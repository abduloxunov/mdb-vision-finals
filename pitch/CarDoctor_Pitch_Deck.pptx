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b0cab3c-2c15-996c-8740-3132aa70513b}">
          <p14:sldIdLst>
            <p14:sldId id="256"/>
          </p14:sldIdLst>
        </p14:section>
        <p14:section name="Problem" id="{afcaec4a-a3e0-2be9-b661-f478360d4a8e}">
          <p14:sldIdLst>
            <p14:sldId id="257"/>
          </p14:sldIdLst>
        </p14:section>
        <p14:section name="Demo" id="{d90295ac-9611-c09d-b546-603806221ec4}">
          <p14:sldIdLst>
            <p14:sldId id="258"/>
          </p14:sldIdLst>
        </p14:section>
        <p14:section name="Technology" id="{a8f37599-3e31-1d37-d528-12052eabf2a8}">
          <p14:sldIdLst>
            <p14:sldId id="259"/>
            <p14:sldId id="260"/>
            <p14:sldId id="261"/>
          </p14:sldIdLst>
        </p14:section>
        <p14:section name="Business" id="{fb0a5ced-8c30-f39b-f7d4-46902d776f63}">
          <p14:sldIdLst>
            <p14:sldId id="262"/>
          </p14:sldIdLst>
        </p14:section>
        <p14:section name="Close" id="{ad96efe1-dbf0-f5af-497b-134d6500df79}">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83A"/>
                </a:solidFill>
                <a:latin typeface="+mn-lt"/>
              </a:defRPr>
            </a:pPr>
            <a:r>
              <a:rPr sz="1200" b="0" i="0" u="none" strike="noStrike">
                <a:solidFill>
                  <a:srgbClr val="13283A"/>
                </a:solidFill>
                <a:latin typeface="+mn-lt"/>
              </a:rPr>
              <a:t>Test set: 374 images, 785 damages</a:t>
            </a:r>
          </a:p>
        </c:rich>
      </c:tx>
      <c:layout/>
      <c:overlay val="0"/>
    </c:title>
    <c:autoTitleDeleted val="0"/>
    <c:plotArea>
      <c:layout/>
      <c:barChart>
        <c:barDir val="col"/>
        <c:grouping val="clustered"/>
        <c:varyColors val="0"/>
        <c:ser>
          <c:idx val="0"/>
          <c:order val="0"/>
          <c:tx>
            <c:strRef>
              <c:f>Sheet1!$B$1</c:f>
              <c:strCache>
                <c:ptCount val="1"/>
                <c:pt idx="0">
                  <c:v>2-epoch pilot</c:v>
                </c:pt>
              </c:strCache>
            </c:strRef>
          </c:tx>
          <c:spPr>
            <a:solidFill>
              <a:srgbClr val="9FD3C7"/>
            </a:solidFill>
            <a:effectLst/>
          </c:spPr>
          <c:invertIfNegative val="0"/>
          <c:dLbls>
            <c:numFmt formatCode="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mAP50</c:v>
                  </c:pt>
                  <c:pt idx="1">
                    <c:v>mAP50-95</c:v>
                  </c:pt>
                  <c:pt idx="2">
                    <c:v>Macro F1</c:v>
                  </c:pt>
                </c:lvl>
              </c:multiLvlStrCache>
            </c:multiLvlStrRef>
          </c:cat>
          <c:val>
            <c:numRef>
              <c:f>Sheet1!$B$2:$B$4</c:f>
              <c:numCache>
                <c:formatCode>General</c:formatCode>
                <c:ptCount val="3"/>
                <c:pt idx="0">
                  <c:v>0.663</c:v>
                </c:pt>
                <c:pt idx="1">
                  <c:v>0.534</c:v>
                </c:pt>
                <c:pt idx="2">
                  <c:v>0.6306</c:v>
                </c:pt>
              </c:numCache>
            </c:numRef>
          </c:val>
        </c:ser>
        <c:ser>
          <c:idx val="1"/>
          <c:order val="1"/>
          <c:tx>
            <c:strRef>
              <c:f>Sheet1!$C$1</c:f>
              <c:strCache>
                <c:ptCount val="1"/>
                <c:pt idx="0">
                  <c:v>Final (12 epochs)</c:v>
                </c:pt>
              </c:strCache>
            </c:strRef>
          </c:tx>
          <c:spPr>
            <a:solidFill>
              <a:srgbClr val="128271"/>
            </a:solidFill>
            <a:effectLst/>
          </c:spPr>
          <c:invertIfNegative val="0"/>
          <c:dLbls>
            <c:numFmt formatCode="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mAP50</c:v>
                  </c:pt>
                  <c:pt idx="1">
                    <c:v>mAP50-95</c:v>
                  </c:pt>
                  <c:pt idx="2">
                    <c:v>Macro F1</c:v>
                  </c:pt>
                </c:lvl>
              </c:multiLvlStrCache>
            </c:multiLvlStrRef>
          </c:cat>
          <c:val>
            <c:numRef>
              <c:f>Sheet1!$C$2:$C$4</c:f>
              <c:numCache>
                <c:formatCode>General</c:formatCode>
                <c:ptCount val="3"/>
                <c:pt idx="0">
                  <c:v>0.7354</c:v>
                </c:pt>
                <c:pt idx="1">
                  <c:v>0.5916</c:v>
                </c:pt>
                <c:pt idx="2">
                  <c:v>0.7135</c:v>
                </c:pt>
              </c:numCache>
            </c:numRef>
          </c:val>
        </c:ser>
        <c:dLbls>
          <c:numFmt formatCode="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7A8A"/>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DE5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7A8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"We are MDB Vision. CarDoctor is a startup that turns photos of a car and the owner's own words into a decision: what is damaged, how urgent it is, and who can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0:15–1:15. "When you buy a used car you can't see what's hidden, and the seller won't tell you. When a fleet truck breaks down, the manager doesn't know whether to stop it or who to call. Both run on guesswork and phone calls today. In 2024 Uzbekistan had 9,364 crashes, around 240 thousand used cars were sold in the first half of 2026, and two in three drivers don't trust repair shops."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1:15–3:15 (2 min). Switch to the browser. 1) Sell mode: Sample 1, Check the car: verdict, boxes, 3D car, download report (60 s). 2) Fleet mode: Chevrolet Cobalt, "engine overheating, steam": red Stop verdict with the Cobalt manual; Use my location: nearest technician, Route (45 s). 3) "Please try it on your phone with your own photo" (15 s). If the network fails, play the backup video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3:15–4:15. "This is a system, not one prompt. Our own vision model finds the damage. Its label and the owner's words drive retrieval over 28 sourced records, filtered by car model, propulsion and safety answers like engine running. The verdict comes from the sources, not from the LLM. The LLM only explains the retrieved records in plain words and must cite each claim; it never sees the photos and never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4:15–5:15. "We fine-tuned RF-DETR Nano ourselves and tested on 374 images it never saw: mAP50 0.735, macro F1 0.714, up from 0.66 after our first pilot. It runs in 0.36 seconds per photo on a CPU. Weak points: cracks and small defects, and we haven't yet tested at night, in rain or on local cars. That is why the report says inspect, never guaranteed."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5:15–5:45. "Another team with the same LLM gets a chatbot. They don't get our trained detector, our sourced local records or the safety checks, and every inspection we run grows our own data on Uzbek cars."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5:45–6:30. "The same report has three buyers: marketplaces pay per report, fleets per vehicle per month, workshops per referred job. It runs on a CPU, so the cost per inspection is CPU seconds plus one optional LLM call. The pilot: one marketplace or one fleet in Tashkent for three months, where we measure minutes saved per inspection." (Only add prices you have taken from the Hugging Face and OpenRouter pricing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6:30–6:45. "Next: test on Uzbek cars at night and in rain, mark the exact part on the 3D car, and sign verified partner workshops. Thank you; please try it on your phone." Total ≈ 6:45, leaving 15 s buffer.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097280"/>
            <a:ext cx="4754880" cy="14630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457200" y="4800600"/>
            <a:ext cx="5486400" cy="228600"/>
          </a:xfrm>
          <a:prstGeom prst="rect">
            <a:avLst/>
          </a:prstGeom>
          <a:noFill/>
          <a:ln/>
        </p:spPr>
        <p:txBody>
          <a:bodyPr wrap="square" rtlCol="0" anchor="ctr"/>
          <a:lstStyle/>
          <a:p>
            <a:pPr indent="0" marL="0">
              <a:buNone/>
            </a:pPr>
            <a:r>
              <a:rPr lang="en-US" sz="900" dirty="0">
                <a:solidFill>
                  <a:schemeClr val="accent5"/>
                </a:solidFill>
              </a:rPr>
              <a:t>CarDoctor · MDB Vision · WIUT Hackathon 2026</a:t>
            </a:r>
            <a:endParaRPr lang="en-US" sz="9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5120640" y="0"/>
            <a:ext cx="4023360" cy="5143500"/>
          </a:xfrm>
          <a:prstGeom prst="rect">
            <a:avLst/>
          </a:prstGeom>
        </p:spPr>
      </p:pic>
      <p:sp>
        <p:nvSpPr>
          <p:cNvPr id="3" name="Text 0"/>
          <p:cNvSpPr txBox="1"/>
          <p:nvPr/>
        </p:nvSpPr>
        <p:spPr>
          <a:xfrm>
            <a:off x="457200" y="548640"/>
            <a:ext cx="45720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COMPUTER VISION · MODE: STARTUP</a:t>
            </a:r>
            <a:endParaRPr lang="en-US" sz="1200" dirty="0"/>
          </a:p>
        </p:txBody>
      </p:sp>
      <p:sp>
        <p:nvSpPr>
          <p:cNvPr id="4" name="Text 0"/>
          <p:cNvSpPr/>
          <p:nvPr>
            <p:ph idx="100" type="title" hasCustomPrompt="1"/>
          </p:nvPr>
        </p:nvSpPr>
        <p:spPr>
          <a:xfrm>
            <a:off x="457200" y="1097280"/>
            <a:ext cx="4754880" cy="1463040"/>
          </a:xfrm>
          <a:prstGeom prst="rect">
            <a:avLst/>
          </a:prstGeom>
          <a:noFill/>
          <a:ln/>
        </p:spPr>
        <p:txBody>
          <a:bodyPr wrap="square" rtlCol="0" anchor="t"/>
          <a:lstStyle/>
          <a:p>
            <a:pPr algn="l" indent="0" marL="0">
              <a:buNone/>
            </a:pPr>
            <a:r>
              <a:rPr lang="en-US" sz="3800" b="1" dirty="0">
                <a:solidFill>
                  <a:schemeClr val="bg1"/>
                </a:solidFill>
              </a:rPr>
              <a:t>CarDoctor</a:t>
            </a:r>
            <a:endParaRPr lang="en-US" sz="3800" dirty="0"/>
          </a:p>
        </p:txBody>
      </p:sp>
      <p:sp>
        <p:nvSpPr>
          <p:cNvPr id="5" name="Text 2"/>
          <p:cNvSpPr txBox="1"/>
          <p:nvPr/>
        </p:nvSpPr>
        <p:spPr>
          <a:xfrm>
            <a:off x="457200" y="1874520"/>
            <a:ext cx="4572000" cy="822960"/>
          </a:xfrm>
          <a:prstGeom prst="rect">
            <a:avLst/>
          </a:prstGeom>
          <a:noFill/>
          <a:ln/>
        </p:spPr>
        <p:txBody>
          <a:bodyPr wrap="square" lIns="0" tIns="0" rIns="0" bIns="0" rtlCol="0" anchor="t"/>
          <a:lstStyle/>
          <a:p>
            <a:pPr indent="0" marL="0">
              <a:buNone/>
            </a:pPr>
            <a:r>
              <a:rPr lang="en-US" sz="1800" i="1" dirty="0">
                <a:solidFill>
                  <a:schemeClr val="bg1"/>
                </a:solidFill>
              </a:rPr>
              <a:t>See the damage. Know what to do.</a:t>
            </a:r>
            <a:endParaRPr lang="en-US" sz="1800" dirty="0"/>
          </a:p>
          <a:p>
            <a:pPr indent="0" marL="0">
              <a:buNone/>
            </a:pPr>
            <a:r>
              <a:rPr lang="en-US" sz="1800" i="1" dirty="0">
                <a:solidFill>
                  <a:schemeClr val="bg1"/>
                </a:solidFill>
              </a:rPr>
              <a:t>Find who can fix it.</a:t>
            </a:r>
            <a:endParaRPr lang="en-US" sz="1800" dirty="0"/>
          </a:p>
        </p:txBody>
      </p:sp>
      <p:sp>
        <p:nvSpPr>
          <p:cNvPr id="6" name="Shape 3"/>
          <p:cNvSpPr/>
          <p:nvPr/>
        </p:nvSpPr>
        <p:spPr>
          <a:xfrm>
            <a:off x="457200" y="2880360"/>
            <a:ext cx="438912" cy="438912"/>
          </a:xfrm>
          <a:prstGeom prst="ellipse">
            <a:avLst/>
          </a:prstGeom>
          <a:solidFill>
            <a:schemeClr val="accent1"/>
          </a:solidFill>
          <a:ln w="12700">
            <a:solidFill>
              <a:schemeClr val="accent1"/>
            </a:solidFill>
            <a:prstDash val="solid"/>
          </a:ln>
        </p:spPr>
      </p:sp>
      <p:sp>
        <p:nvSpPr>
          <p:cNvPr id="7" name="Text 4"/>
          <p:cNvSpPr txBox="1"/>
          <p:nvPr/>
        </p:nvSpPr>
        <p:spPr>
          <a:xfrm>
            <a:off x="457200" y="288036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DA</a:t>
            </a:r>
            <a:endParaRPr lang="en-US" sz="1400" dirty="0"/>
          </a:p>
        </p:txBody>
      </p:sp>
      <p:sp>
        <p:nvSpPr>
          <p:cNvPr id="8" name="Text 5"/>
          <p:cNvSpPr txBox="1"/>
          <p:nvPr/>
        </p:nvSpPr>
        <p:spPr>
          <a:xfrm>
            <a:off x="1024128" y="2898648"/>
            <a:ext cx="3931920" cy="228600"/>
          </a:xfrm>
          <a:prstGeom prst="rect">
            <a:avLst/>
          </a:prstGeom>
          <a:noFill/>
          <a:ln/>
        </p:spPr>
        <p:txBody>
          <a:bodyPr wrap="square" lIns="0" tIns="0" rIns="0" bIns="0" rtlCol="0" anchor="t"/>
          <a:lstStyle/>
          <a:p>
            <a:pPr indent="0" marL="0">
              <a:buNone/>
            </a:pPr>
            <a:r>
              <a:rPr lang="en-US" sz="1300" b="1" dirty="0">
                <a:solidFill>
                  <a:schemeClr val="bg1"/>
                </a:solidFill>
              </a:rPr>
              <a:t>Davlatyor Abduloxunov</a:t>
            </a:r>
            <a:endParaRPr lang="en-US" sz="1300" dirty="0"/>
          </a:p>
        </p:txBody>
      </p:sp>
      <p:sp>
        <p:nvSpPr>
          <p:cNvPr id="9" name="Text 6"/>
          <p:cNvSpPr txBox="1"/>
          <p:nvPr/>
        </p:nvSpPr>
        <p:spPr>
          <a:xfrm>
            <a:off x="1024128" y="3108960"/>
            <a:ext cx="3931920" cy="201168"/>
          </a:xfrm>
          <a:prstGeom prst="rect">
            <a:avLst/>
          </a:prstGeom>
          <a:noFill/>
          <a:ln/>
        </p:spPr>
        <p:txBody>
          <a:bodyPr wrap="square" lIns="0" tIns="0" rIns="0" bIns="0" rtlCol="0" anchor="t"/>
          <a:lstStyle/>
          <a:p>
            <a:pPr indent="0" marL="0">
              <a:buNone/>
            </a:pPr>
            <a:r>
              <a:rPr lang="en-US" sz="1100" dirty="0">
                <a:solidFill>
                  <a:schemeClr val="accent6"/>
                </a:solidFill>
              </a:rPr>
              <a:t>Lead · app · deploy</a:t>
            </a:r>
            <a:endParaRPr lang="en-US" sz="1100" dirty="0"/>
          </a:p>
        </p:txBody>
      </p:sp>
      <p:sp>
        <p:nvSpPr>
          <p:cNvPr id="10" name="Shape 7"/>
          <p:cNvSpPr/>
          <p:nvPr/>
        </p:nvSpPr>
        <p:spPr>
          <a:xfrm>
            <a:off x="457200" y="3447288"/>
            <a:ext cx="438912" cy="438912"/>
          </a:xfrm>
          <a:prstGeom prst="ellipse">
            <a:avLst/>
          </a:prstGeom>
          <a:solidFill>
            <a:schemeClr val="accent1"/>
          </a:solidFill>
          <a:ln w="12700">
            <a:solidFill>
              <a:schemeClr val="accent1"/>
            </a:solidFill>
            <a:prstDash val="solid"/>
          </a:ln>
        </p:spPr>
      </p:sp>
      <p:sp>
        <p:nvSpPr>
          <p:cNvPr id="11" name="Text 8"/>
          <p:cNvSpPr txBox="1"/>
          <p:nvPr/>
        </p:nvSpPr>
        <p:spPr>
          <a:xfrm>
            <a:off x="457200" y="3447288"/>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MX</a:t>
            </a:r>
            <a:endParaRPr lang="en-US" sz="1400" dirty="0"/>
          </a:p>
        </p:txBody>
      </p:sp>
      <p:sp>
        <p:nvSpPr>
          <p:cNvPr id="12" name="Text 9"/>
          <p:cNvSpPr txBox="1"/>
          <p:nvPr/>
        </p:nvSpPr>
        <p:spPr>
          <a:xfrm>
            <a:off x="1024128" y="3465576"/>
            <a:ext cx="3931920" cy="228600"/>
          </a:xfrm>
          <a:prstGeom prst="rect">
            <a:avLst/>
          </a:prstGeom>
          <a:noFill/>
          <a:ln/>
        </p:spPr>
        <p:txBody>
          <a:bodyPr wrap="square" lIns="0" tIns="0" rIns="0" bIns="0" rtlCol="0" anchor="t"/>
          <a:lstStyle/>
          <a:p>
            <a:pPr indent="0" marL="0">
              <a:buNone/>
            </a:pPr>
            <a:r>
              <a:rPr lang="en-US" sz="1300" b="1" dirty="0">
                <a:solidFill>
                  <a:schemeClr val="bg1"/>
                </a:solidFill>
              </a:rPr>
              <a:t>Muhammadjon Xalimov</a:t>
            </a:r>
            <a:endParaRPr lang="en-US" sz="1300" dirty="0"/>
          </a:p>
        </p:txBody>
      </p:sp>
      <p:sp>
        <p:nvSpPr>
          <p:cNvPr id="13" name="Text 10"/>
          <p:cNvSpPr txBox="1"/>
          <p:nvPr/>
        </p:nvSpPr>
        <p:spPr>
          <a:xfrm>
            <a:off x="1024128" y="3675888"/>
            <a:ext cx="3931920" cy="201168"/>
          </a:xfrm>
          <a:prstGeom prst="rect">
            <a:avLst/>
          </a:prstGeom>
          <a:noFill/>
          <a:ln/>
        </p:spPr>
        <p:txBody>
          <a:bodyPr wrap="square" lIns="0" tIns="0" rIns="0" bIns="0" rtlCol="0" anchor="t"/>
          <a:lstStyle/>
          <a:p>
            <a:pPr indent="0" marL="0">
              <a:buNone/>
            </a:pPr>
            <a:r>
              <a:rPr lang="en-US" sz="1100" dirty="0">
                <a:solidFill>
                  <a:schemeClr val="accent6"/>
                </a:solidFill>
              </a:rPr>
              <a:t>Data · measurements</a:t>
            </a:r>
            <a:endParaRPr lang="en-US" sz="1100" dirty="0"/>
          </a:p>
        </p:txBody>
      </p:sp>
      <p:sp>
        <p:nvSpPr>
          <p:cNvPr id="14" name="Shape 11"/>
          <p:cNvSpPr/>
          <p:nvPr/>
        </p:nvSpPr>
        <p:spPr>
          <a:xfrm>
            <a:off x="457200" y="4014216"/>
            <a:ext cx="438912" cy="438912"/>
          </a:xfrm>
          <a:prstGeom prst="ellipse">
            <a:avLst/>
          </a:prstGeom>
          <a:solidFill>
            <a:schemeClr val="accent1"/>
          </a:solidFill>
          <a:ln w="12700">
            <a:solidFill>
              <a:schemeClr val="accent1"/>
            </a:solidFill>
            <a:prstDash val="solid"/>
          </a:ln>
        </p:spPr>
      </p:sp>
      <p:sp>
        <p:nvSpPr>
          <p:cNvPr id="15" name="Text 12"/>
          <p:cNvSpPr txBox="1"/>
          <p:nvPr/>
        </p:nvSpPr>
        <p:spPr>
          <a:xfrm>
            <a:off x="457200" y="4014216"/>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BX</a:t>
            </a:r>
            <a:endParaRPr lang="en-US" sz="1400" dirty="0"/>
          </a:p>
        </p:txBody>
      </p:sp>
      <p:sp>
        <p:nvSpPr>
          <p:cNvPr id="16" name="Text 13"/>
          <p:cNvSpPr txBox="1"/>
          <p:nvPr/>
        </p:nvSpPr>
        <p:spPr>
          <a:xfrm>
            <a:off x="1024128" y="4032504"/>
            <a:ext cx="3931920" cy="228600"/>
          </a:xfrm>
          <a:prstGeom prst="rect">
            <a:avLst/>
          </a:prstGeom>
          <a:noFill/>
          <a:ln/>
        </p:spPr>
        <p:txBody>
          <a:bodyPr wrap="square" lIns="0" tIns="0" rIns="0" bIns="0" rtlCol="0" anchor="t"/>
          <a:lstStyle/>
          <a:p>
            <a:pPr indent="0" marL="0">
              <a:buNone/>
            </a:pPr>
            <a:r>
              <a:rPr lang="en-US" sz="1300" b="1" dirty="0">
                <a:solidFill>
                  <a:schemeClr val="bg1"/>
                </a:solidFill>
              </a:rPr>
              <a:t>Bexruz Xasanov</a:t>
            </a:r>
            <a:endParaRPr lang="en-US" sz="1300" dirty="0"/>
          </a:p>
        </p:txBody>
      </p:sp>
      <p:sp>
        <p:nvSpPr>
          <p:cNvPr id="17" name="Text 14"/>
          <p:cNvSpPr txBox="1"/>
          <p:nvPr/>
        </p:nvSpPr>
        <p:spPr>
          <a:xfrm>
            <a:off x="1024128" y="4242816"/>
            <a:ext cx="3931920" cy="201168"/>
          </a:xfrm>
          <a:prstGeom prst="rect">
            <a:avLst/>
          </a:prstGeom>
          <a:noFill/>
          <a:ln/>
        </p:spPr>
        <p:txBody>
          <a:bodyPr wrap="square" lIns="0" tIns="0" rIns="0" bIns="0" rtlCol="0" anchor="t"/>
          <a:lstStyle/>
          <a:p>
            <a:pPr indent="0" marL="0">
              <a:buNone/>
            </a:pPr>
            <a:r>
              <a:rPr lang="en-US" sz="1100" dirty="0">
                <a:solidFill>
                  <a:schemeClr val="accent6"/>
                </a:solidFill>
              </a:rPr>
              <a:t>Knowledge base · training</a:t>
            </a:r>
            <a:endParaRPr lang="en-US" sz="1100" dirty="0"/>
          </a:p>
        </p:txBody>
      </p:sp>
      <p:sp>
        <p:nvSpPr>
          <p:cNvPr id="18" name="Text 15"/>
          <p:cNvSpPr txBox="1"/>
          <p:nvPr/>
        </p:nvSpPr>
        <p:spPr>
          <a:xfrm>
            <a:off x="457200" y="4663440"/>
            <a:ext cx="4572000" cy="274320"/>
          </a:xfrm>
          <a:prstGeom prst="rect">
            <a:avLst/>
          </a:prstGeom>
          <a:noFill/>
          <a:ln/>
        </p:spPr>
        <p:txBody>
          <a:bodyPr wrap="square" lIns="0" tIns="0" rIns="0" bIns="0" rtlCol="0" anchor="t"/>
          <a:lstStyle/>
          <a:p>
            <a:pPr indent="0" marL="0">
              <a:buNone/>
            </a:pPr>
            <a:r>
              <a:rPr lang="en-US" sz="1100" dirty="0">
                <a:solidFill>
                  <a:schemeClr val="accent6"/>
                </a:solidFill>
              </a:rPr>
              <a:t>Team MDB Vision · try it: abduloxunov-cardoctor.hf.space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t"/>
          <a:lstStyle/>
          <a:p>
            <a:pPr algn="l" indent="0" marL="0">
              <a:buNone/>
            </a:pPr>
            <a:r>
              <a:rPr lang="en-US" sz="2800" b="1" dirty="0">
                <a:solidFill>
                  <a:schemeClr val="tx1"/>
                </a:solidFill>
              </a:rPr>
              <a:t>Buyers and fleets decide on guesswork</a:t>
            </a:r>
            <a:endParaRPr lang="en-US" sz="2800" dirty="0"/>
          </a:p>
        </p:txBody>
      </p:sp>
      <p:sp>
        <p:nvSpPr>
          <p:cNvPr id="3" name="Shape 1"/>
          <p:cNvSpPr/>
          <p:nvPr/>
        </p:nvSpPr>
        <p:spPr>
          <a:xfrm>
            <a:off x="457200" y="1097280"/>
            <a:ext cx="2606040" cy="1874520"/>
          </a:xfrm>
          <a:prstGeom prst="roundRect">
            <a:avLst>
              <a:gd name="adj" fmla="val 3902"/>
            </a:avLst>
          </a:prstGeom>
          <a:solidFill>
            <a:schemeClr val="bg2"/>
          </a:solidFill>
          <a:ln w="12700">
            <a:solidFill>
              <a:schemeClr val="bg2"/>
            </a:solidFill>
            <a:prstDash val="solid"/>
          </a:ln>
        </p:spPr>
      </p:sp>
      <p:sp>
        <p:nvSpPr>
          <p:cNvPr id="4" name="Text 2"/>
          <p:cNvSpPr txBox="1"/>
          <p:nvPr/>
        </p:nvSpPr>
        <p:spPr>
          <a:xfrm>
            <a:off x="640080" y="1234440"/>
            <a:ext cx="228600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9,364</a:t>
            </a:r>
            <a:endParaRPr lang="en-US" sz="3600" dirty="0"/>
          </a:p>
        </p:txBody>
      </p:sp>
      <p:sp>
        <p:nvSpPr>
          <p:cNvPr id="5" name="Text 3"/>
          <p:cNvSpPr txBox="1"/>
          <p:nvPr/>
        </p:nvSpPr>
        <p:spPr>
          <a:xfrm>
            <a:off x="640080" y="1920240"/>
            <a:ext cx="2286000" cy="731520"/>
          </a:xfrm>
          <a:prstGeom prst="rect">
            <a:avLst/>
          </a:prstGeom>
          <a:noFill/>
          <a:ln/>
        </p:spPr>
        <p:txBody>
          <a:bodyPr wrap="square" lIns="0" tIns="0" rIns="0" bIns="0" rtlCol="0" anchor="t"/>
          <a:lstStyle/>
          <a:p>
            <a:pPr indent="0" marL="0">
              <a:buNone/>
            </a:pPr>
            <a:r>
              <a:rPr lang="en-US" sz="1300" dirty="0">
                <a:solidFill>
                  <a:schemeClr val="tx1"/>
                </a:solidFill>
              </a:rPr>
              <a:t>road crashes in Uzbekistan in 2024. Each one needs a damage check</a:t>
            </a:r>
            <a:endParaRPr lang="en-US" sz="1300" dirty="0"/>
          </a:p>
        </p:txBody>
      </p:sp>
      <p:sp>
        <p:nvSpPr>
          <p:cNvPr id="6" name="Text 4"/>
          <p:cNvSpPr txBox="1"/>
          <p:nvPr/>
        </p:nvSpPr>
        <p:spPr>
          <a:xfrm>
            <a:off x="640080" y="2651760"/>
            <a:ext cx="2286000" cy="228600"/>
          </a:xfrm>
          <a:prstGeom prst="rect">
            <a:avLst/>
          </a:prstGeom>
          <a:noFill/>
          <a:ln/>
        </p:spPr>
        <p:txBody>
          <a:bodyPr wrap="square" lIns="0" tIns="0" rIns="0" bIns="0" rtlCol="0" anchor="t"/>
          <a:lstStyle/>
          <a:p>
            <a:pPr indent="0" marL="0">
              <a:buNone/>
            </a:pPr>
            <a:r>
              <a:rPr lang="en-US" sz="1000" dirty="0">
                <a:solidFill>
                  <a:schemeClr val="accent5"/>
                </a:solidFill>
              </a:rPr>
              <a:t>Kun.uz, Feb 2025</a:t>
            </a:r>
            <a:endParaRPr lang="en-US" sz="1000" dirty="0"/>
          </a:p>
        </p:txBody>
      </p:sp>
      <p:sp>
        <p:nvSpPr>
          <p:cNvPr id="7" name="Shape 5"/>
          <p:cNvSpPr/>
          <p:nvPr/>
        </p:nvSpPr>
        <p:spPr>
          <a:xfrm>
            <a:off x="3246120" y="1097280"/>
            <a:ext cx="2606040" cy="1874520"/>
          </a:xfrm>
          <a:prstGeom prst="roundRect">
            <a:avLst>
              <a:gd name="adj" fmla="val 3902"/>
            </a:avLst>
          </a:prstGeom>
          <a:solidFill>
            <a:schemeClr val="bg2"/>
          </a:solidFill>
          <a:ln w="12700">
            <a:solidFill>
              <a:schemeClr val="bg2"/>
            </a:solidFill>
            <a:prstDash val="solid"/>
          </a:ln>
        </p:spPr>
      </p:sp>
      <p:sp>
        <p:nvSpPr>
          <p:cNvPr id="8" name="Text 6"/>
          <p:cNvSpPr txBox="1"/>
          <p:nvPr/>
        </p:nvSpPr>
        <p:spPr>
          <a:xfrm>
            <a:off x="3429000" y="1234440"/>
            <a:ext cx="228600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~240k</a:t>
            </a:r>
            <a:endParaRPr lang="en-US" sz="3600" dirty="0"/>
          </a:p>
        </p:txBody>
      </p:sp>
      <p:sp>
        <p:nvSpPr>
          <p:cNvPr id="9" name="Text 7"/>
          <p:cNvSpPr txBox="1"/>
          <p:nvPr/>
        </p:nvSpPr>
        <p:spPr>
          <a:xfrm>
            <a:off x="3429000" y="1920240"/>
            <a:ext cx="2286000" cy="731520"/>
          </a:xfrm>
          <a:prstGeom prst="rect">
            <a:avLst/>
          </a:prstGeom>
          <a:noFill/>
          <a:ln/>
        </p:spPr>
        <p:txBody>
          <a:bodyPr wrap="square" lIns="0" tIns="0" rIns="0" bIns="0" rtlCol="0" anchor="t"/>
          <a:lstStyle/>
          <a:p>
            <a:pPr indent="0" marL="0">
              <a:buNone/>
            </a:pPr>
            <a:r>
              <a:rPr lang="en-US" sz="1300" dirty="0">
                <a:solidFill>
                  <a:schemeClr val="tx1"/>
                </a:solidFill>
              </a:rPr>
              <a:t>used cars sold in H1 2026, and parliament is now fining odometer fraud</a:t>
            </a:r>
            <a:endParaRPr lang="en-US" sz="1300" dirty="0"/>
          </a:p>
        </p:txBody>
      </p:sp>
      <p:sp>
        <p:nvSpPr>
          <p:cNvPr id="10" name="Text 8"/>
          <p:cNvSpPr txBox="1"/>
          <p:nvPr/>
        </p:nvSpPr>
        <p:spPr>
          <a:xfrm>
            <a:off x="3429000" y="2651760"/>
            <a:ext cx="2286000" cy="228600"/>
          </a:xfrm>
          <a:prstGeom prst="rect">
            <a:avLst/>
          </a:prstGeom>
          <a:noFill/>
          <a:ln/>
        </p:spPr>
        <p:txBody>
          <a:bodyPr wrap="square" lIns="0" tIns="0" rIns="0" bIns="0" rtlCol="0" anchor="t"/>
          <a:lstStyle/>
          <a:p>
            <a:pPr indent="0" marL="0">
              <a:buNone/>
            </a:pPr>
            <a:r>
              <a:rPr lang="en-US" sz="1000" dirty="0">
                <a:solidFill>
                  <a:schemeClr val="accent5"/>
                </a:solidFill>
              </a:rPr>
              <a:t>Kun.uz, 2026</a:t>
            </a:r>
            <a:endParaRPr lang="en-US" sz="1000" dirty="0"/>
          </a:p>
        </p:txBody>
      </p:sp>
      <p:sp>
        <p:nvSpPr>
          <p:cNvPr id="11" name="Shape 9"/>
          <p:cNvSpPr/>
          <p:nvPr/>
        </p:nvSpPr>
        <p:spPr>
          <a:xfrm>
            <a:off x="6035040" y="1097280"/>
            <a:ext cx="2606040" cy="1874520"/>
          </a:xfrm>
          <a:prstGeom prst="roundRect">
            <a:avLst>
              <a:gd name="adj" fmla="val 3902"/>
            </a:avLst>
          </a:prstGeom>
          <a:solidFill>
            <a:schemeClr val="bg2"/>
          </a:solidFill>
          <a:ln w="12700">
            <a:solidFill>
              <a:schemeClr val="bg2"/>
            </a:solidFill>
            <a:prstDash val="solid"/>
          </a:ln>
        </p:spPr>
      </p:sp>
      <p:sp>
        <p:nvSpPr>
          <p:cNvPr id="12" name="Text 10"/>
          <p:cNvSpPr txBox="1"/>
          <p:nvPr/>
        </p:nvSpPr>
        <p:spPr>
          <a:xfrm>
            <a:off x="6217920" y="1234440"/>
            <a:ext cx="228600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2 of 3</a:t>
            </a:r>
            <a:endParaRPr lang="en-US" sz="3600" dirty="0"/>
          </a:p>
        </p:txBody>
      </p:sp>
      <p:sp>
        <p:nvSpPr>
          <p:cNvPr id="13" name="Text 11"/>
          <p:cNvSpPr txBox="1"/>
          <p:nvPr/>
        </p:nvSpPr>
        <p:spPr>
          <a:xfrm>
            <a:off x="6217920" y="1920240"/>
            <a:ext cx="2286000" cy="731520"/>
          </a:xfrm>
          <a:prstGeom prst="rect">
            <a:avLst/>
          </a:prstGeom>
          <a:noFill/>
          <a:ln/>
        </p:spPr>
        <p:txBody>
          <a:bodyPr wrap="square" lIns="0" tIns="0" rIns="0" bIns="0" rtlCol="0" anchor="t"/>
          <a:lstStyle/>
          <a:p>
            <a:pPr indent="0" marL="0">
              <a:buNone/>
            </a:pPr>
            <a:r>
              <a:rPr lang="en-US" sz="1300" dirty="0">
                <a:solidFill>
                  <a:schemeClr val="tx1"/>
                </a:solidFill>
              </a:rPr>
              <a:t>drivers don't trust repair shops (unneeded services, overcharging)</a:t>
            </a:r>
            <a:endParaRPr lang="en-US" sz="1300" dirty="0"/>
          </a:p>
        </p:txBody>
      </p:sp>
      <p:sp>
        <p:nvSpPr>
          <p:cNvPr id="14" name="Text 12"/>
          <p:cNvSpPr txBox="1"/>
          <p:nvPr/>
        </p:nvSpPr>
        <p:spPr>
          <a:xfrm>
            <a:off x="6217920" y="2651760"/>
            <a:ext cx="2286000" cy="228600"/>
          </a:xfrm>
          <a:prstGeom prst="rect">
            <a:avLst/>
          </a:prstGeom>
          <a:noFill/>
          <a:ln/>
        </p:spPr>
        <p:txBody>
          <a:bodyPr wrap="square" lIns="0" tIns="0" rIns="0" bIns="0" rtlCol="0" anchor="t"/>
          <a:lstStyle/>
          <a:p>
            <a:pPr indent="0" marL="0">
              <a:buNone/>
            </a:pPr>
            <a:r>
              <a:rPr lang="en-US" sz="1000" dirty="0">
                <a:solidFill>
                  <a:schemeClr val="accent5"/>
                </a:solidFill>
              </a:rPr>
              <a:t>AAA survey</a:t>
            </a:r>
            <a:endParaRPr lang="en-US" sz="1000" dirty="0"/>
          </a:p>
        </p:txBody>
      </p:sp>
      <p:sp>
        <p:nvSpPr>
          <p:cNvPr id="15" name="Shape 13"/>
          <p:cNvSpPr/>
          <p:nvPr/>
        </p:nvSpPr>
        <p:spPr>
          <a:xfrm>
            <a:off x="457200" y="3246120"/>
            <a:ext cx="548640" cy="548640"/>
          </a:xfrm>
          <a:prstGeom prst="ellipse">
            <a:avLst/>
          </a:prstGeom>
          <a:solidFill>
            <a:schemeClr val="accent1"/>
          </a:solidFill>
          <a:ln w="12700">
            <a:solidFill>
              <a:schemeClr val="accent1"/>
            </a:solidFill>
            <a:prstDash val="solid"/>
          </a:ln>
        </p:spPr>
      </p:sp>
      <p:sp>
        <p:nvSpPr>
          <p:cNvPr id="16" name="Text 14"/>
          <p:cNvSpPr txBox="1"/>
          <p:nvPr/>
        </p:nvSpPr>
        <p:spPr>
          <a:xfrm>
            <a:off x="457200" y="32461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7" name="Text 15"/>
          <p:cNvSpPr txBox="1"/>
          <p:nvPr/>
        </p:nvSpPr>
        <p:spPr>
          <a:xfrm>
            <a:off x="1143000" y="3246120"/>
            <a:ext cx="3383280" cy="274320"/>
          </a:xfrm>
          <a:prstGeom prst="rect">
            <a:avLst/>
          </a:prstGeom>
          <a:noFill/>
          <a:ln/>
        </p:spPr>
        <p:txBody>
          <a:bodyPr wrap="square" lIns="0" tIns="0" rIns="0" bIns="0" rtlCol="0" anchor="t"/>
          <a:lstStyle/>
          <a:p>
            <a:pPr indent="0" marL="0">
              <a:buNone/>
            </a:pPr>
            <a:r>
              <a:rPr lang="en-US" sz="1500" b="1" dirty="0">
                <a:solidFill>
                  <a:schemeClr val="tx1"/>
                </a:solidFill>
              </a:rPr>
              <a:t>Used-car buyers and sellers</a:t>
            </a:r>
            <a:endParaRPr lang="en-US" sz="1500" dirty="0"/>
          </a:p>
        </p:txBody>
      </p:sp>
      <p:sp>
        <p:nvSpPr>
          <p:cNvPr id="18" name="Text 16"/>
          <p:cNvSpPr txBox="1"/>
          <p:nvPr/>
        </p:nvSpPr>
        <p:spPr>
          <a:xfrm>
            <a:off x="1143000" y="3547872"/>
            <a:ext cx="3383280" cy="640080"/>
          </a:xfrm>
          <a:prstGeom prst="rect">
            <a:avLst/>
          </a:prstGeom>
          <a:noFill/>
          <a:ln/>
        </p:spPr>
        <p:txBody>
          <a:bodyPr wrap="square" lIns="0" tIns="0" rIns="0" bIns="0" rtlCol="0" anchor="t"/>
          <a:lstStyle/>
          <a:p>
            <a:pPr indent="0" marL="0">
              <a:buNone/>
            </a:pPr>
            <a:r>
              <a:rPr lang="en-US" sz="1300" dirty="0">
                <a:solidFill>
                  <a:schemeClr val="accent5"/>
                </a:solidFill>
              </a:rPr>
              <a:t>Can't see hidden damage before the visit; the seller won't say.</a:t>
            </a:r>
            <a:endParaRPr lang="en-US" sz="1300" dirty="0"/>
          </a:p>
        </p:txBody>
      </p:sp>
      <p:sp>
        <p:nvSpPr>
          <p:cNvPr id="19" name="Shape 17"/>
          <p:cNvSpPr/>
          <p:nvPr/>
        </p:nvSpPr>
        <p:spPr>
          <a:xfrm>
            <a:off x="4663440" y="3246120"/>
            <a:ext cx="548640" cy="548640"/>
          </a:xfrm>
          <a:prstGeom prst="ellipse">
            <a:avLst/>
          </a:prstGeom>
          <a:solidFill>
            <a:schemeClr val="accent1"/>
          </a:solidFill>
          <a:ln w="12700">
            <a:solidFill>
              <a:schemeClr val="accent1"/>
            </a:solidFill>
            <a:prstDash val="solid"/>
          </a:ln>
        </p:spPr>
      </p:sp>
      <p:sp>
        <p:nvSpPr>
          <p:cNvPr id="20" name="Text 18"/>
          <p:cNvSpPr txBox="1"/>
          <p:nvPr/>
        </p:nvSpPr>
        <p:spPr>
          <a:xfrm>
            <a:off x="4663440" y="32461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1" name="Text 19"/>
          <p:cNvSpPr txBox="1"/>
          <p:nvPr/>
        </p:nvSpPr>
        <p:spPr>
          <a:xfrm>
            <a:off x="5349240" y="3246120"/>
            <a:ext cx="3383280" cy="274320"/>
          </a:xfrm>
          <a:prstGeom prst="rect">
            <a:avLst/>
          </a:prstGeom>
          <a:noFill/>
          <a:ln/>
        </p:spPr>
        <p:txBody>
          <a:bodyPr wrap="square" lIns="0" tIns="0" rIns="0" bIns="0" rtlCol="0" anchor="t"/>
          <a:lstStyle/>
          <a:p>
            <a:pPr indent="0" marL="0">
              <a:buNone/>
            </a:pPr>
            <a:r>
              <a:rPr lang="en-US" sz="1500" b="1" dirty="0">
                <a:solidFill>
                  <a:schemeClr val="tx1"/>
                </a:solidFill>
              </a:rPr>
              <a:t>Truck and taxi fleets</a:t>
            </a:r>
            <a:endParaRPr lang="en-US" sz="1500" dirty="0"/>
          </a:p>
        </p:txBody>
      </p:sp>
      <p:sp>
        <p:nvSpPr>
          <p:cNvPr id="22" name="Text 20"/>
          <p:cNvSpPr txBox="1"/>
          <p:nvPr/>
        </p:nvSpPr>
        <p:spPr>
          <a:xfrm>
            <a:off x="5349240" y="3547872"/>
            <a:ext cx="3383280" cy="640080"/>
          </a:xfrm>
          <a:prstGeom prst="rect">
            <a:avLst/>
          </a:prstGeom>
          <a:noFill/>
          <a:ln/>
        </p:spPr>
        <p:txBody>
          <a:bodyPr wrap="square" lIns="0" tIns="0" rIns="0" bIns="0" rtlCol="0" anchor="t"/>
          <a:lstStyle/>
          <a:p>
            <a:pPr indent="0" marL="0">
              <a:buNone/>
            </a:pPr>
            <a:r>
              <a:rPr lang="en-US" sz="1300" dirty="0">
                <a:solidFill>
                  <a:schemeClr val="accent5"/>
                </a:solidFill>
              </a:rPr>
              <a:t>A breakdown on the road: stop or keep driving? Who should we call?</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t"/>
          <a:lstStyle/>
          <a:p>
            <a:pPr algn="l" indent="0" marL="0">
              <a:buNone/>
            </a:pPr>
            <a:r>
              <a:rPr lang="en-US" sz="2800" b="1" dirty="0">
                <a:solidFill>
                  <a:schemeClr val="tx1"/>
                </a:solidFill>
              </a:rPr>
              <a:t>Live demo: pick a car, or use your own photo</a:t>
            </a:r>
            <a:endParaRPr lang="en-US" sz="2800" dirty="0"/>
          </a:p>
        </p:txBody>
      </p:sp>
      <p:pic>
        <p:nvPicPr>
          <p:cNvPr id="3" name="Image 0" descr="preencoded.png">    </p:cNvPr>
          <p:cNvPicPr>
            <a:picLocks noChangeAspect="1"/>
          </p:cNvPicPr>
          <p:nvPr/>
        </p:nvPicPr>
        <p:blipFill>
          <a:blip r:embed="rId1"/>
          <a:srcRect l="0" r="0" t="0" b="0"/>
          <a:stretch/>
        </p:blipFill>
        <p:spPr>
          <a:xfrm>
            <a:off x="4937760" y="1051560"/>
            <a:ext cx="3749040" cy="2057400"/>
          </a:xfrm>
          <a:prstGeom prst="rect">
            <a:avLst/>
          </a:prstGeom>
        </p:spPr>
      </p:pic>
      <p:sp>
        <p:nvSpPr>
          <p:cNvPr id="4" name="Shape 1"/>
          <p:cNvSpPr/>
          <p:nvPr/>
        </p:nvSpPr>
        <p:spPr>
          <a:xfrm>
            <a:off x="4937760" y="3246120"/>
            <a:ext cx="3749040" cy="1280160"/>
          </a:xfrm>
          <a:prstGeom prst="roundRect">
            <a:avLst>
              <a:gd name="adj" fmla="val 5714"/>
            </a:avLst>
          </a:prstGeom>
          <a:solidFill>
            <a:schemeClr val="tx2"/>
          </a:solidFill>
          <a:ln w="12700">
            <a:solidFill>
              <a:schemeClr val="tx2"/>
            </a:solidFill>
            <a:prstDash val="solid"/>
          </a:ln>
        </p:spPr>
      </p:sp>
      <p:sp>
        <p:nvSpPr>
          <p:cNvPr id="5" name="Text 2"/>
          <p:cNvSpPr txBox="1"/>
          <p:nvPr/>
        </p:nvSpPr>
        <p:spPr>
          <a:xfrm>
            <a:off x="5120640" y="3383280"/>
            <a:ext cx="3474720" cy="365760"/>
          </a:xfrm>
          <a:prstGeom prst="rect">
            <a:avLst/>
          </a:prstGeom>
          <a:noFill/>
          <a:ln/>
        </p:spPr>
        <p:txBody>
          <a:bodyPr wrap="square" lIns="0" tIns="0" rIns="0" bIns="0" rtlCol="0" anchor="t"/>
          <a:lstStyle/>
          <a:p>
            <a:pPr indent="0" marL="0">
              <a:buNone/>
            </a:pPr>
            <a:r>
              <a:rPr lang="en-US" sz="1800" b="1" dirty="0">
                <a:solidFill>
                  <a:schemeClr val="bg1"/>
                </a:solidFill>
              </a:rPr>
              <a:t>abduloxunov-cardoctor.hf.space</a:t>
            </a:r>
            <a:endParaRPr lang="en-US" sz="1800" dirty="0"/>
          </a:p>
        </p:txBody>
      </p:sp>
      <p:sp>
        <p:nvSpPr>
          <p:cNvPr id="6" name="Text 3"/>
          <p:cNvSpPr txBox="1"/>
          <p:nvPr/>
        </p:nvSpPr>
        <p:spPr>
          <a:xfrm>
            <a:off x="5120640" y="3794760"/>
            <a:ext cx="3474720" cy="594360"/>
          </a:xfrm>
          <a:prstGeom prst="rect">
            <a:avLst/>
          </a:prstGeom>
          <a:noFill/>
          <a:ln/>
        </p:spPr>
        <p:txBody>
          <a:bodyPr wrap="square" lIns="0" tIns="0" rIns="0" bIns="0" rtlCol="0" anchor="t"/>
          <a:lstStyle/>
          <a:p>
            <a:pPr indent="0" marL="0">
              <a:buNone/>
            </a:pPr>
            <a:r>
              <a:rPr lang="en-US" sz="1300" dirty="0">
                <a:solidFill>
                  <a:schemeClr val="accent6"/>
                </a:solidFill>
              </a:rPr>
              <a:t>Open it on your phone. Sample 1, 2 or 3, or upload your own photos.</a:t>
            </a:r>
            <a:endParaRPr lang="en-US" sz="1300" dirty="0"/>
          </a:p>
        </p:txBody>
      </p:sp>
      <p:sp>
        <p:nvSpPr>
          <p:cNvPr id="7" name="Shape 4"/>
          <p:cNvSpPr/>
          <p:nvPr/>
        </p:nvSpPr>
        <p:spPr>
          <a:xfrm>
            <a:off x="457200" y="1097280"/>
            <a:ext cx="457200" cy="457200"/>
          </a:xfrm>
          <a:prstGeom prst="ellipse">
            <a:avLst/>
          </a:prstGeom>
          <a:solidFill>
            <a:schemeClr val="accent1"/>
          </a:solidFill>
          <a:ln w="12700">
            <a:solidFill>
              <a:schemeClr val="accent1"/>
            </a:solidFill>
            <a:prstDash val="solid"/>
          </a:ln>
        </p:spPr>
      </p:sp>
      <p:sp>
        <p:nvSpPr>
          <p:cNvPr id="8" name="Text 5"/>
          <p:cNvSpPr txBox="1"/>
          <p:nvPr/>
        </p:nvSpPr>
        <p:spPr>
          <a:xfrm>
            <a:off x="457200" y="10972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1097280" y="1097280"/>
            <a:ext cx="3657600" cy="274320"/>
          </a:xfrm>
          <a:prstGeom prst="rect">
            <a:avLst/>
          </a:prstGeom>
          <a:noFill/>
          <a:ln/>
        </p:spPr>
        <p:txBody>
          <a:bodyPr wrap="square" lIns="0" tIns="0" rIns="0" bIns="0" rtlCol="0" anchor="t"/>
          <a:lstStyle/>
          <a:p>
            <a:pPr indent="0" marL="0">
              <a:buNone/>
            </a:pPr>
            <a:r>
              <a:rPr lang="en-US" sz="1600" b="1" dirty="0">
                <a:solidFill>
                  <a:schemeClr val="tx1"/>
                </a:solidFill>
              </a:rPr>
              <a:t>Sell / Buy</a:t>
            </a:r>
            <a:endParaRPr lang="en-US" sz="1600" dirty="0"/>
          </a:p>
        </p:txBody>
      </p:sp>
      <p:sp>
        <p:nvSpPr>
          <p:cNvPr id="10" name="Text 7"/>
          <p:cNvSpPr txBox="1"/>
          <p:nvPr/>
        </p:nvSpPr>
        <p:spPr>
          <a:xfrm>
            <a:off x="1097280" y="1399032"/>
            <a:ext cx="3657600" cy="685800"/>
          </a:xfrm>
          <a:prstGeom prst="rect">
            <a:avLst/>
          </a:prstGeom>
          <a:noFill/>
          <a:ln/>
        </p:spPr>
        <p:txBody>
          <a:bodyPr wrap="square" lIns="0" tIns="0" rIns="0" bIns="0" rtlCol="0" anchor="t"/>
          <a:lstStyle/>
          <a:p>
            <a:pPr indent="0" marL="0">
              <a:buNone/>
            </a:pPr>
            <a:r>
              <a:rPr lang="en-US" sz="1300" dirty="0">
                <a:solidFill>
                  <a:schemeClr val="accent5"/>
                </a:solidFill>
              </a:rPr>
              <a:t>Sample car → verdict, damage boxes on every photo, 3D car with red areas, report</a:t>
            </a:r>
            <a:endParaRPr lang="en-US" sz="1300" dirty="0"/>
          </a:p>
        </p:txBody>
      </p:sp>
      <p:sp>
        <p:nvSpPr>
          <p:cNvPr id="11" name="Shape 8"/>
          <p:cNvSpPr/>
          <p:nvPr/>
        </p:nvSpPr>
        <p:spPr>
          <a:xfrm>
            <a:off x="457200" y="2194560"/>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457200" y="21945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1097280" y="2194560"/>
            <a:ext cx="3657600" cy="274320"/>
          </a:xfrm>
          <a:prstGeom prst="rect">
            <a:avLst/>
          </a:prstGeom>
          <a:noFill/>
          <a:ln/>
        </p:spPr>
        <p:txBody>
          <a:bodyPr wrap="square" lIns="0" tIns="0" rIns="0" bIns="0" rtlCol="0" anchor="t"/>
          <a:lstStyle/>
          <a:p>
            <a:pPr indent="0" marL="0">
              <a:buNone/>
            </a:pPr>
            <a:r>
              <a:rPr lang="en-US" sz="1600" b="1" dirty="0">
                <a:solidFill>
                  <a:schemeClr val="tx1"/>
                </a:solidFill>
              </a:rPr>
              <a:t>Fleet &amp; trucks</a:t>
            </a:r>
            <a:endParaRPr lang="en-US" sz="1600" dirty="0"/>
          </a:p>
        </p:txBody>
      </p:sp>
      <p:sp>
        <p:nvSpPr>
          <p:cNvPr id="14" name="Text 11"/>
          <p:cNvSpPr txBox="1"/>
          <p:nvPr/>
        </p:nvSpPr>
        <p:spPr>
          <a:xfrm>
            <a:off x="1097280" y="2496312"/>
            <a:ext cx="3657600" cy="685800"/>
          </a:xfrm>
          <a:prstGeom prst="rect">
            <a:avLst/>
          </a:prstGeom>
          <a:noFill/>
          <a:ln/>
        </p:spPr>
        <p:txBody>
          <a:bodyPr wrap="square" lIns="0" tIns="0" rIns="0" bIns="0" rtlCol="0" anchor="t"/>
          <a:lstStyle/>
          <a:p>
            <a:pPr indent="0" marL="0">
              <a:buNone/>
            </a:pPr>
            <a:r>
              <a:rPr lang="en-US" sz="1300" dirty="0">
                <a:solidFill>
                  <a:schemeClr val="accent5"/>
                </a:solidFill>
              </a:rPr>
              <a:t>"Cobalt, engine overheating, steam" → 🔴 Stop and get help, with the manual source</a:t>
            </a:r>
            <a:endParaRPr lang="en-US" sz="1300" dirty="0"/>
          </a:p>
        </p:txBody>
      </p:sp>
      <p:sp>
        <p:nvSpPr>
          <p:cNvPr id="15" name="Shape 12"/>
          <p:cNvSpPr/>
          <p:nvPr/>
        </p:nvSpPr>
        <p:spPr>
          <a:xfrm>
            <a:off x="457200" y="3291840"/>
            <a:ext cx="457200" cy="457200"/>
          </a:xfrm>
          <a:prstGeom prst="ellipse">
            <a:avLst/>
          </a:prstGeom>
          <a:solidFill>
            <a:schemeClr val="accent1"/>
          </a:solidFill>
          <a:ln w="12700">
            <a:solidFill>
              <a:schemeClr val="accent1"/>
            </a:solidFill>
            <a:prstDash val="solid"/>
          </a:ln>
        </p:spPr>
      </p:sp>
      <p:sp>
        <p:nvSpPr>
          <p:cNvPr id="16" name="Text 13"/>
          <p:cNvSpPr txBox="1"/>
          <p:nvPr/>
        </p:nvSpPr>
        <p:spPr>
          <a:xfrm>
            <a:off x="457200" y="3291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1097280" y="3291840"/>
            <a:ext cx="3657600" cy="274320"/>
          </a:xfrm>
          <a:prstGeom prst="rect">
            <a:avLst/>
          </a:prstGeom>
          <a:noFill/>
          <a:ln/>
        </p:spPr>
        <p:txBody>
          <a:bodyPr wrap="square" lIns="0" tIns="0" rIns="0" bIns="0" rtlCol="0" anchor="t"/>
          <a:lstStyle/>
          <a:p>
            <a:pPr indent="0" marL="0">
              <a:buNone/>
            </a:pPr>
            <a:r>
              <a:rPr lang="en-US" sz="1600" b="1" dirty="0">
                <a:solidFill>
                  <a:schemeClr val="tx1"/>
                </a:solidFill>
              </a:rPr>
              <a:t>Route</a:t>
            </a:r>
            <a:endParaRPr lang="en-US" sz="1600" dirty="0"/>
          </a:p>
        </p:txBody>
      </p:sp>
      <p:sp>
        <p:nvSpPr>
          <p:cNvPr id="18" name="Text 15"/>
          <p:cNvSpPr txBox="1"/>
          <p:nvPr/>
        </p:nvSpPr>
        <p:spPr>
          <a:xfrm>
            <a:off x="1097280" y="3593592"/>
            <a:ext cx="3657600" cy="685800"/>
          </a:xfrm>
          <a:prstGeom prst="rect">
            <a:avLst/>
          </a:prstGeom>
          <a:noFill/>
          <a:ln/>
        </p:spPr>
        <p:txBody>
          <a:bodyPr wrap="square" lIns="0" tIns="0" rIns="0" bIns="0" rtlCol="0" anchor="t"/>
          <a:lstStyle/>
          <a:p>
            <a:pPr indent="0" marL="0">
              <a:buNone/>
            </a:pPr>
            <a:r>
              <a:rPr lang="en-US" sz="1300" dirty="0">
                <a:solidFill>
                  <a:schemeClr val="accent5"/>
                </a:solidFill>
              </a:rPr>
              <a:t>Use my location → nearest technician + route; real workshops on Google Maps</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t"/>
          <a:lstStyle/>
          <a:p>
            <a:pPr algn="l" indent="0" marL="0">
              <a:buNone/>
            </a:pPr>
            <a:r>
              <a:rPr lang="en-US" sz="2800" b="1" dirty="0">
                <a:solidFill>
                  <a:schemeClr val="tx1"/>
                </a:solidFill>
              </a:rPr>
              <a:t>How the model and the LLM work together</a:t>
            </a:r>
            <a:endParaRPr lang="en-US" sz="2800" dirty="0"/>
          </a:p>
        </p:txBody>
      </p:sp>
      <p:sp>
        <p:nvSpPr>
          <p:cNvPr id="3" name="Shape 1"/>
          <p:cNvSpPr/>
          <p:nvPr/>
        </p:nvSpPr>
        <p:spPr>
          <a:xfrm>
            <a:off x="457200" y="1051560"/>
            <a:ext cx="1828800" cy="868680"/>
          </a:xfrm>
          <a:prstGeom prst="roundRect">
            <a:avLst>
              <a:gd name="adj" fmla="val 8421"/>
            </a:avLst>
          </a:prstGeom>
          <a:solidFill>
            <a:schemeClr val="bg2"/>
          </a:solidFill>
          <a:ln w="12700">
            <a:solidFill>
              <a:schemeClr val="bg2"/>
            </a:solidFill>
            <a:prstDash val="solid"/>
          </a:ln>
        </p:spPr>
      </p:sp>
      <p:sp>
        <p:nvSpPr>
          <p:cNvPr id="4" name="Text 2"/>
          <p:cNvSpPr txBox="1"/>
          <p:nvPr/>
        </p:nvSpPr>
        <p:spPr>
          <a:xfrm>
            <a:off x="566928" y="1143000"/>
            <a:ext cx="1609344" cy="274320"/>
          </a:xfrm>
          <a:prstGeom prst="rect">
            <a:avLst/>
          </a:prstGeom>
          <a:noFill/>
          <a:ln/>
        </p:spPr>
        <p:txBody>
          <a:bodyPr wrap="square" lIns="0" tIns="0" rIns="0" bIns="0" rtlCol="0" anchor="t"/>
          <a:lstStyle/>
          <a:p>
            <a:pPr indent="0" marL="0">
              <a:buNone/>
            </a:pPr>
            <a:r>
              <a:rPr lang="en-US" sz="1300" b="1" dirty="0">
                <a:solidFill>
                  <a:schemeClr val="tx1"/>
                </a:solidFill>
              </a:rPr>
              <a:t>Photos</a:t>
            </a:r>
            <a:endParaRPr lang="en-US" sz="1300" dirty="0"/>
          </a:p>
        </p:txBody>
      </p:sp>
      <p:sp>
        <p:nvSpPr>
          <p:cNvPr id="5" name="Text 3"/>
          <p:cNvSpPr txBox="1"/>
          <p:nvPr/>
        </p:nvSpPr>
        <p:spPr>
          <a:xfrm>
            <a:off x="566928" y="1435608"/>
            <a:ext cx="1609344" cy="411480"/>
          </a:xfrm>
          <a:prstGeom prst="rect">
            <a:avLst/>
          </a:prstGeom>
          <a:noFill/>
          <a:ln/>
        </p:spPr>
        <p:txBody>
          <a:bodyPr wrap="square" lIns="0" tIns="0" rIns="0" bIns="0" rtlCol="0" anchor="t"/>
          <a:lstStyle/>
          <a:p>
            <a:pPr indent="0" marL="0">
              <a:buNone/>
            </a:pPr>
            <a:r>
              <a:rPr lang="en-US" sz="1100" dirty="0">
                <a:solidFill>
                  <a:schemeClr val="accent5"/>
                </a:solidFill>
              </a:rPr>
              <a:t>Many per car, tagged front / rear / left / right</a:t>
            </a:r>
            <a:endParaRPr lang="en-US" sz="1100" dirty="0"/>
          </a:p>
        </p:txBody>
      </p:sp>
      <p:sp>
        <p:nvSpPr>
          <p:cNvPr id="6" name="Shape 4"/>
          <p:cNvSpPr/>
          <p:nvPr/>
        </p:nvSpPr>
        <p:spPr>
          <a:xfrm>
            <a:off x="457200" y="2377440"/>
            <a:ext cx="1828800" cy="868680"/>
          </a:xfrm>
          <a:prstGeom prst="roundRect">
            <a:avLst>
              <a:gd name="adj" fmla="val 8421"/>
            </a:avLst>
          </a:prstGeom>
          <a:solidFill>
            <a:schemeClr val="bg2"/>
          </a:solidFill>
          <a:ln w="12700">
            <a:solidFill>
              <a:schemeClr val="bg2"/>
            </a:solidFill>
            <a:prstDash val="solid"/>
          </a:ln>
        </p:spPr>
      </p:sp>
      <p:sp>
        <p:nvSpPr>
          <p:cNvPr id="7" name="Text 5"/>
          <p:cNvSpPr txBox="1"/>
          <p:nvPr/>
        </p:nvSpPr>
        <p:spPr>
          <a:xfrm>
            <a:off x="566928" y="2468880"/>
            <a:ext cx="1609344" cy="274320"/>
          </a:xfrm>
          <a:prstGeom prst="rect">
            <a:avLst/>
          </a:prstGeom>
          <a:noFill/>
          <a:ln/>
        </p:spPr>
        <p:txBody>
          <a:bodyPr wrap="square" lIns="0" tIns="0" rIns="0" bIns="0" rtlCol="0" anchor="t"/>
          <a:lstStyle/>
          <a:p>
            <a:pPr indent="0" marL="0">
              <a:buNone/>
            </a:pPr>
            <a:r>
              <a:rPr lang="en-US" sz="1300" b="1" dirty="0">
                <a:solidFill>
                  <a:schemeClr val="tx1"/>
                </a:solidFill>
              </a:rPr>
              <a:t>Owner's words</a:t>
            </a:r>
            <a:endParaRPr lang="en-US" sz="1300" dirty="0"/>
          </a:p>
        </p:txBody>
      </p:sp>
      <p:sp>
        <p:nvSpPr>
          <p:cNvPr id="8" name="Text 6"/>
          <p:cNvSpPr txBox="1"/>
          <p:nvPr/>
        </p:nvSpPr>
        <p:spPr>
          <a:xfrm>
            <a:off x="566928" y="2761488"/>
            <a:ext cx="1609344" cy="411480"/>
          </a:xfrm>
          <a:prstGeom prst="rect">
            <a:avLst/>
          </a:prstGeom>
          <a:noFill/>
          <a:ln/>
        </p:spPr>
        <p:txBody>
          <a:bodyPr wrap="square" lIns="0" tIns="0" rIns="0" bIns="0" rtlCol="0" anchor="t"/>
          <a:lstStyle/>
          <a:p>
            <a:pPr indent="0" marL="0">
              <a:buNone/>
            </a:pPr>
            <a:r>
              <a:rPr lang="en-US" sz="1100" dirty="0">
                <a:solidFill>
                  <a:schemeClr val="accent5"/>
                </a:solidFill>
              </a:rPr>
              <a:t>Symptom, car model, engine and brake answers</a:t>
            </a:r>
            <a:endParaRPr lang="en-US" sz="1100" dirty="0"/>
          </a:p>
        </p:txBody>
      </p:sp>
      <p:sp>
        <p:nvSpPr>
          <p:cNvPr id="9" name="Shape 7"/>
          <p:cNvSpPr/>
          <p:nvPr/>
        </p:nvSpPr>
        <p:spPr>
          <a:xfrm>
            <a:off x="2697480" y="1051560"/>
            <a:ext cx="2011680" cy="868680"/>
          </a:xfrm>
          <a:prstGeom prst="roundRect">
            <a:avLst>
              <a:gd name="adj" fmla="val 8421"/>
            </a:avLst>
          </a:prstGeom>
          <a:solidFill>
            <a:schemeClr val="accent1"/>
          </a:solidFill>
          <a:ln w="12700">
            <a:solidFill>
              <a:schemeClr val="accent1"/>
            </a:solidFill>
            <a:prstDash val="solid"/>
          </a:ln>
        </p:spPr>
      </p:sp>
      <p:sp>
        <p:nvSpPr>
          <p:cNvPr id="10" name="Text 8"/>
          <p:cNvSpPr txBox="1"/>
          <p:nvPr/>
        </p:nvSpPr>
        <p:spPr>
          <a:xfrm>
            <a:off x="2807208" y="1143000"/>
            <a:ext cx="1792224" cy="274320"/>
          </a:xfrm>
          <a:prstGeom prst="rect">
            <a:avLst/>
          </a:prstGeom>
          <a:noFill/>
          <a:ln/>
        </p:spPr>
        <p:txBody>
          <a:bodyPr wrap="square" lIns="0" tIns="0" rIns="0" bIns="0" rtlCol="0" anchor="t"/>
          <a:lstStyle/>
          <a:p>
            <a:pPr indent="0" marL="0">
              <a:buNone/>
            </a:pPr>
            <a:r>
              <a:rPr lang="en-US" sz="1300" b="1" dirty="0">
                <a:solidFill>
                  <a:schemeClr val="bg1"/>
                </a:solidFill>
              </a:rPr>
              <a:t>① Our vision model</a:t>
            </a:r>
            <a:endParaRPr lang="en-US" sz="1300" dirty="0"/>
          </a:p>
        </p:txBody>
      </p:sp>
      <p:sp>
        <p:nvSpPr>
          <p:cNvPr id="11" name="Text 9"/>
          <p:cNvSpPr txBox="1"/>
          <p:nvPr/>
        </p:nvSpPr>
        <p:spPr>
          <a:xfrm>
            <a:off x="2807208" y="1435608"/>
            <a:ext cx="1792224" cy="411480"/>
          </a:xfrm>
          <a:prstGeom prst="rect">
            <a:avLst/>
          </a:prstGeom>
          <a:noFill/>
          <a:ln/>
        </p:spPr>
        <p:txBody>
          <a:bodyPr wrap="square" lIns="0" tIns="0" rIns="0" bIns="0" rtlCol="0" anchor="t"/>
          <a:lstStyle/>
          <a:p>
            <a:pPr indent="0" marL="0">
              <a:buNone/>
            </a:pPr>
            <a:r>
              <a:rPr lang="en-US" sz="1100" dirty="0">
                <a:solidFill>
                  <a:schemeClr val="bg1"/>
                </a:solidFill>
              </a:rPr>
              <a:t>RF-DETR Nano, fine-tuned: damage boxes + labels</a:t>
            </a:r>
            <a:endParaRPr lang="en-US" sz="1100" dirty="0"/>
          </a:p>
        </p:txBody>
      </p:sp>
      <p:sp>
        <p:nvSpPr>
          <p:cNvPr id="12" name="Shape 10"/>
          <p:cNvSpPr/>
          <p:nvPr/>
        </p:nvSpPr>
        <p:spPr>
          <a:xfrm>
            <a:off x="2697480" y="2377440"/>
            <a:ext cx="2011680" cy="960120"/>
          </a:xfrm>
          <a:prstGeom prst="roundRect">
            <a:avLst>
              <a:gd name="adj" fmla="val 7619"/>
            </a:avLst>
          </a:prstGeom>
          <a:solidFill>
            <a:schemeClr val="accent1"/>
          </a:solidFill>
          <a:ln w="12700">
            <a:solidFill>
              <a:schemeClr val="accent1"/>
            </a:solidFill>
            <a:prstDash val="solid"/>
          </a:ln>
        </p:spPr>
      </p:sp>
      <p:sp>
        <p:nvSpPr>
          <p:cNvPr id="13" name="Text 11"/>
          <p:cNvSpPr txBox="1"/>
          <p:nvPr/>
        </p:nvSpPr>
        <p:spPr>
          <a:xfrm>
            <a:off x="2807208" y="2468880"/>
            <a:ext cx="1792224" cy="274320"/>
          </a:xfrm>
          <a:prstGeom prst="rect">
            <a:avLst/>
          </a:prstGeom>
          <a:noFill/>
          <a:ln/>
        </p:spPr>
        <p:txBody>
          <a:bodyPr wrap="square" lIns="0" tIns="0" rIns="0" bIns="0" rtlCol="0" anchor="t"/>
          <a:lstStyle/>
          <a:p>
            <a:pPr indent="0" marL="0">
              <a:buNone/>
            </a:pPr>
            <a:r>
              <a:rPr lang="en-US" sz="1300" b="1" dirty="0">
                <a:solidFill>
                  <a:schemeClr val="bg1"/>
                </a:solidFill>
              </a:rPr>
              <a:t>② Retrieval</a:t>
            </a:r>
            <a:endParaRPr lang="en-US" sz="1300" dirty="0"/>
          </a:p>
        </p:txBody>
      </p:sp>
      <p:sp>
        <p:nvSpPr>
          <p:cNvPr id="14" name="Text 12"/>
          <p:cNvSpPr txBox="1"/>
          <p:nvPr/>
        </p:nvSpPr>
        <p:spPr>
          <a:xfrm>
            <a:off x="2807208" y="2761488"/>
            <a:ext cx="1792224" cy="502920"/>
          </a:xfrm>
          <a:prstGeom prst="rect">
            <a:avLst/>
          </a:prstGeom>
          <a:noFill/>
          <a:ln/>
        </p:spPr>
        <p:txBody>
          <a:bodyPr wrap="square" lIns="0" tIns="0" rIns="0" bIns="0" rtlCol="0" anchor="t"/>
          <a:lstStyle/>
          <a:p>
            <a:pPr indent="0" marL="0">
              <a:buNone/>
            </a:pPr>
            <a:r>
              <a:rPr lang="en-US" sz="1100" dirty="0">
                <a:solidFill>
                  <a:schemeClr val="bg1"/>
                </a:solidFill>
              </a:rPr>
              <a:t>BM25 + E5 vectors (Qdrant), scope checks, 28 sourced records</a:t>
            </a:r>
            <a:endParaRPr lang="en-US" sz="1100" dirty="0"/>
          </a:p>
        </p:txBody>
      </p:sp>
      <p:sp>
        <p:nvSpPr>
          <p:cNvPr id="15" name="Shape 13"/>
          <p:cNvSpPr/>
          <p:nvPr/>
        </p:nvSpPr>
        <p:spPr>
          <a:xfrm>
            <a:off x="5074920" y="1691640"/>
            <a:ext cx="1737360" cy="960120"/>
          </a:xfrm>
          <a:prstGeom prst="roundRect">
            <a:avLst>
              <a:gd name="adj" fmla="val 7619"/>
            </a:avLst>
          </a:prstGeom>
          <a:solidFill>
            <a:schemeClr val="tx2"/>
          </a:solidFill>
          <a:ln w="12700">
            <a:solidFill>
              <a:schemeClr val="tx2"/>
            </a:solidFill>
            <a:prstDash val="solid"/>
          </a:ln>
        </p:spPr>
      </p:sp>
      <p:sp>
        <p:nvSpPr>
          <p:cNvPr id="16" name="Text 14"/>
          <p:cNvSpPr txBox="1"/>
          <p:nvPr/>
        </p:nvSpPr>
        <p:spPr>
          <a:xfrm>
            <a:off x="5184648" y="1783080"/>
            <a:ext cx="1517904" cy="274320"/>
          </a:xfrm>
          <a:prstGeom prst="rect">
            <a:avLst/>
          </a:prstGeom>
          <a:noFill/>
          <a:ln/>
        </p:spPr>
        <p:txBody>
          <a:bodyPr wrap="square" lIns="0" tIns="0" rIns="0" bIns="0" rtlCol="0" anchor="t"/>
          <a:lstStyle/>
          <a:p>
            <a:pPr indent="0" marL="0">
              <a:buNone/>
            </a:pPr>
            <a:r>
              <a:rPr lang="en-US" sz="1300" b="1" dirty="0">
                <a:solidFill>
                  <a:schemeClr val="bg1"/>
                </a:solidFill>
              </a:rPr>
              <a:t>③ Decision</a:t>
            </a:r>
            <a:endParaRPr lang="en-US" sz="1300" dirty="0"/>
          </a:p>
        </p:txBody>
      </p:sp>
      <p:sp>
        <p:nvSpPr>
          <p:cNvPr id="17" name="Text 15"/>
          <p:cNvSpPr txBox="1"/>
          <p:nvPr/>
        </p:nvSpPr>
        <p:spPr>
          <a:xfrm>
            <a:off x="5184648" y="2075688"/>
            <a:ext cx="1517904" cy="502920"/>
          </a:xfrm>
          <a:prstGeom prst="rect">
            <a:avLst/>
          </a:prstGeom>
          <a:noFill/>
          <a:ln/>
        </p:spPr>
        <p:txBody>
          <a:bodyPr wrap="square" lIns="0" tIns="0" rIns="0" bIns="0" rtlCol="0" anchor="t"/>
          <a:lstStyle/>
          <a:p>
            <a:pPr indent="0" marL="0">
              <a:buNone/>
            </a:pPr>
            <a:r>
              <a:rPr lang="en-US" sz="1100" dirty="0">
                <a:solidFill>
                  <a:schemeClr val="bg1"/>
                </a:solidFill>
              </a:rPr>
              <a:t>Verdict = worst urgency in the sources. Not the LLM</a:t>
            </a:r>
            <a:endParaRPr lang="en-US" sz="1100" dirty="0"/>
          </a:p>
        </p:txBody>
      </p:sp>
      <p:sp>
        <p:nvSpPr>
          <p:cNvPr id="18" name="Shape 16"/>
          <p:cNvSpPr/>
          <p:nvPr/>
        </p:nvSpPr>
        <p:spPr>
          <a:xfrm>
            <a:off x="7086600" y="960120"/>
            <a:ext cx="1600200" cy="1051560"/>
          </a:xfrm>
          <a:prstGeom prst="roundRect">
            <a:avLst>
              <a:gd name="adj" fmla="val 6957"/>
            </a:avLst>
          </a:prstGeom>
          <a:solidFill>
            <a:schemeClr val="accent3"/>
          </a:solidFill>
          <a:ln w="12700">
            <a:solidFill>
              <a:schemeClr val="accent3"/>
            </a:solidFill>
            <a:prstDash val="solid"/>
          </a:ln>
        </p:spPr>
      </p:sp>
      <p:sp>
        <p:nvSpPr>
          <p:cNvPr id="19" name="Text 17"/>
          <p:cNvSpPr txBox="1"/>
          <p:nvPr/>
        </p:nvSpPr>
        <p:spPr>
          <a:xfrm>
            <a:off x="7196328" y="1051560"/>
            <a:ext cx="1380744" cy="274320"/>
          </a:xfrm>
          <a:prstGeom prst="rect">
            <a:avLst/>
          </a:prstGeom>
          <a:noFill/>
          <a:ln/>
        </p:spPr>
        <p:txBody>
          <a:bodyPr wrap="square" lIns="0" tIns="0" rIns="0" bIns="0" rtlCol="0" anchor="t"/>
          <a:lstStyle/>
          <a:p>
            <a:pPr indent="0" marL="0">
              <a:buNone/>
            </a:pPr>
            <a:r>
              <a:rPr lang="en-US" sz="1300" b="1" dirty="0">
                <a:solidFill>
                  <a:schemeClr val="bg1"/>
                </a:solidFill>
              </a:rPr>
              <a:t>④ LLM explains</a:t>
            </a:r>
            <a:endParaRPr lang="en-US" sz="1300" dirty="0"/>
          </a:p>
        </p:txBody>
      </p:sp>
      <p:sp>
        <p:nvSpPr>
          <p:cNvPr id="20" name="Text 18"/>
          <p:cNvSpPr txBox="1"/>
          <p:nvPr/>
        </p:nvSpPr>
        <p:spPr>
          <a:xfrm>
            <a:off x="7196328" y="1344168"/>
            <a:ext cx="1380744" cy="594360"/>
          </a:xfrm>
          <a:prstGeom prst="rect">
            <a:avLst/>
          </a:prstGeom>
          <a:noFill/>
          <a:ln/>
        </p:spPr>
        <p:txBody>
          <a:bodyPr wrap="square" lIns="0" tIns="0" rIns="0" bIns="0" rtlCol="0" anchor="t"/>
          <a:lstStyle/>
          <a:p>
            <a:pPr indent="0" marL="0">
              <a:buNone/>
            </a:pPr>
            <a:r>
              <a:rPr lang="en-US" sz="1100" dirty="0">
                <a:solidFill>
                  <a:schemeClr val="bg1"/>
                </a:solidFill>
              </a:rPr>
              <a:t>Gemini Flash Lite: explains only retrieved records, cites each</a:t>
            </a:r>
            <a:endParaRPr lang="en-US" sz="1100" dirty="0"/>
          </a:p>
        </p:txBody>
      </p:sp>
      <p:sp>
        <p:nvSpPr>
          <p:cNvPr id="21" name="Shape 19"/>
          <p:cNvSpPr/>
          <p:nvPr/>
        </p:nvSpPr>
        <p:spPr>
          <a:xfrm>
            <a:off x="7086600" y="2377440"/>
            <a:ext cx="1600200" cy="868680"/>
          </a:xfrm>
          <a:prstGeom prst="roundRect">
            <a:avLst>
              <a:gd name="adj" fmla="val 8421"/>
            </a:avLst>
          </a:prstGeom>
          <a:solidFill>
            <a:schemeClr val="bg2"/>
          </a:solidFill>
          <a:ln w="12700">
            <a:solidFill>
              <a:schemeClr val="bg2"/>
            </a:solidFill>
            <a:prstDash val="solid"/>
          </a:ln>
        </p:spPr>
      </p:sp>
      <p:sp>
        <p:nvSpPr>
          <p:cNvPr id="22" name="Text 20"/>
          <p:cNvSpPr txBox="1"/>
          <p:nvPr/>
        </p:nvSpPr>
        <p:spPr>
          <a:xfrm>
            <a:off x="7196328" y="2468880"/>
            <a:ext cx="1380744" cy="274320"/>
          </a:xfrm>
          <a:prstGeom prst="rect">
            <a:avLst/>
          </a:prstGeom>
          <a:noFill/>
          <a:ln/>
        </p:spPr>
        <p:txBody>
          <a:bodyPr wrap="square" lIns="0" tIns="0" rIns="0" bIns="0" rtlCol="0" anchor="t"/>
          <a:lstStyle/>
          <a:p>
            <a:pPr indent="0" marL="0">
              <a:buNone/>
            </a:pPr>
            <a:r>
              <a:rPr lang="en-US" sz="1300" b="1" dirty="0">
                <a:solidFill>
                  <a:schemeClr val="tx1"/>
                </a:solidFill>
              </a:rPr>
              <a:t>⑤ Output</a:t>
            </a:r>
            <a:endParaRPr lang="en-US" sz="1300" dirty="0"/>
          </a:p>
        </p:txBody>
      </p:sp>
      <p:sp>
        <p:nvSpPr>
          <p:cNvPr id="23" name="Text 21"/>
          <p:cNvSpPr txBox="1"/>
          <p:nvPr/>
        </p:nvSpPr>
        <p:spPr>
          <a:xfrm>
            <a:off x="7196328" y="2761488"/>
            <a:ext cx="1380744" cy="411480"/>
          </a:xfrm>
          <a:prstGeom prst="rect">
            <a:avLst/>
          </a:prstGeom>
          <a:noFill/>
          <a:ln/>
        </p:spPr>
        <p:txBody>
          <a:bodyPr wrap="square" lIns="0" tIns="0" rIns="0" bIns="0" rtlCol="0" anchor="t"/>
          <a:lstStyle/>
          <a:p>
            <a:pPr indent="0" marL="0">
              <a:buNone/>
            </a:pPr>
            <a:r>
              <a:rPr lang="en-US" sz="1100" dirty="0">
                <a:solidFill>
                  <a:schemeClr val="accent5"/>
                </a:solidFill>
              </a:rPr>
              <a:t>3D damage map, report, nearest technician</a:t>
            </a:r>
            <a:endParaRPr lang="en-US" sz="1100" dirty="0"/>
          </a:p>
        </p:txBody>
      </p:sp>
      <p:sp>
        <p:nvSpPr>
          <p:cNvPr id="24" name="Shape 22"/>
          <p:cNvSpPr/>
          <p:nvPr/>
        </p:nvSpPr>
        <p:spPr>
          <a:xfrm>
            <a:off x="2286000" y="1481328"/>
            <a:ext cx="411480" cy="0"/>
          </a:xfrm>
          <a:prstGeom prst="line">
            <a:avLst/>
          </a:prstGeom>
          <a:noFill/>
          <a:ln w="19050">
            <a:solidFill>
              <a:schemeClr val="accent5"/>
            </a:solidFill>
            <a:prstDash val="solid"/>
            <a:tailEnd type="triangle"/>
          </a:ln>
        </p:spPr>
      </p:sp>
      <p:sp>
        <p:nvSpPr>
          <p:cNvPr id="25" name="Shape 23"/>
          <p:cNvSpPr/>
          <p:nvPr/>
        </p:nvSpPr>
        <p:spPr>
          <a:xfrm>
            <a:off x="2286000" y="2807208"/>
            <a:ext cx="411480" cy="0"/>
          </a:xfrm>
          <a:prstGeom prst="line">
            <a:avLst/>
          </a:prstGeom>
          <a:noFill/>
          <a:ln w="19050">
            <a:solidFill>
              <a:schemeClr val="accent5"/>
            </a:solidFill>
            <a:prstDash val="solid"/>
            <a:tailEnd type="triangle"/>
          </a:ln>
        </p:spPr>
      </p:sp>
      <p:sp>
        <p:nvSpPr>
          <p:cNvPr id="26" name="Shape 24"/>
          <p:cNvSpPr/>
          <p:nvPr/>
        </p:nvSpPr>
        <p:spPr>
          <a:xfrm>
            <a:off x="4709160" y="1481328"/>
            <a:ext cx="365760" cy="530352"/>
          </a:xfrm>
          <a:prstGeom prst="line">
            <a:avLst/>
          </a:prstGeom>
          <a:noFill/>
          <a:ln w="19050">
            <a:solidFill>
              <a:schemeClr val="accent5"/>
            </a:solidFill>
            <a:prstDash val="solid"/>
            <a:tailEnd type="triangle"/>
          </a:ln>
        </p:spPr>
      </p:sp>
      <p:sp>
        <p:nvSpPr>
          <p:cNvPr id="27" name="Shape 25"/>
          <p:cNvSpPr/>
          <p:nvPr/>
        </p:nvSpPr>
        <p:spPr>
          <a:xfrm>
            <a:off x="4709160" y="2807208"/>
            <a:ext cx="365760" cy="-429768"/>
          </a:xfrm>
          <a:prstGeom prst="line">
            <a:avLst/>
          </a:prstGeom>
          <a:noFill/>
          <a:ln w="19050">
            <a:solidFill>
              <a:schemeClr val="accent5"/>
            </a:solidFill>
            <a:prstDash val="solid"/>
            <a:tailEnd type="triangle"/>
          </a:ln>
        </p:spPr>
      </p:sp>
      <p:sp>
        <p:nvSpPr>
          <p:cNvPr id="28" name="Shape 26"/>
          <p:cNvSpPr/>
          <p:nvPr/>
        </p:nvSpPr>
        <p:spPr>
          <a:xfrm>
            <a:off x="6812280" y="2011680"/>
            <a:ext cx="274320" cy="-530352"/>
          </a:xfrm>
          <a:prstGeom prst="line">
            <a:avLst/>
          </a:prstGeom>
          <a:noFill/>
          <a:ln w="19050">
            <a:solidFill>
              <a:schemeClr val="accent5"/>
            </a:solidFill>
            <a:prstDash val="solid"/>
            <a:tailEnd type="triangle"/>
          </a:ln>
        </p:spPr>
      </p:sp>
      <p:sp>
        <p:nvSpPr>
          <p:cNvPr id="29" name="Shape 27"/>
          <p:cNvSpPr/>
          <p:nvPr/>
        </p:nvSpPr>
        <p:spPr>
          <a:xfrm>
            <a:off x="6812280" y="2377440"/>
            <a:ext cx="274320" cy="429768"/>
          </a:xfrm>
          <a:prstGeom prst="line">
            <a:avLst/>
          </a:prstGeom>
          <a:noFill/>
          <a:ln w="19050">
            <a:solidFill>
              <a:schemeClr val="accent5"/>
            </a:solidFill>
            <a:prstDash val="solid"/>
            <a:tailEnd type="triangle"/>
          </a:ln>
        </p:spPr>
      </p:sp>
      <p:sp>
        <p:nvSpPr>
          <p:cNvPr id="30" name="Shape 28"/>
          <p:cNvSpPr/>
          <p:nvPr/>
        </p:nvSpPr>
        <p:spPr>
          <a:xfrm>
            <a:off x="3703320" y="1920240"/>
            <a:ext cx="0" cy="457200"/>
          </a:xfrm>
          <a:prstGeom prst="line">
            <a:avLst/>
          </a:prstGeom>
          <a:noFill/>
          <a:ln w="19050">
            <a:solidFill>
              <a:schemeClr val="accent2"/>
            </a:solidFill>
            <a:prstDash val="dash"/>
            <a:tailEnd type="triangle"/>
          </a:ln>
        </p:spPr>
      </p:sp>
      <p:sp>
        <p:nvSpPr>
          <p:cNvPr id="31" name="Text 29"/>
          <p:cNvSpPr txBox="1"/>
          <p:nvPr/>
        </p:nvSpPr>
        <p:spPr>
          <a:xfrm>
            <a:off x="3767328" y="2011680"/>
            <a:ext cx="1371600" cy="274320"/>
          </a:xfrm>
          <a:prstGeom prst="rect">
            <a:avLst/>
          </a:prstGeom>
          <a:noFill/>
          <a:ln/>
        </p:spPr>
        <p:txBody>
          <a:bodyPr wrap="square" lIns="0" tIns="0" rIns="0" bIns="0" rtlCol="0" anchor="t"/>
          <a:lstStyle/>
          <a:p>
            <a:pPr indent="0" marL="0">
              <a:buNone/>
            </a:pPr>
            <a:r>
              <a:rPr lang="en-US" sz="900" i="1" dirty="0">
                <a:solidFill>
                  <a:schemeClr val="accent2"/>
                </a:solidFill>
              </a:rPr>
              <a:t>damage label guides the search</a:t>
            </a:r>
            <a:endParaRPr lang="en-US" sz="900" dirty="0"/>
          </a:p>
        </p:txBody>
      </p:sp>
      <p:sp>
        <p:nvSpPr>
          <p:cNvPr id="32" name="Shape 30"/>
          <p:cNvSpPr/>
          <p:nvPr/>
        </p:nvSpPr>
        <p:spPr>
          <a:xfrm>
            <a:off x="457200" y="3520440"/>
            <a:ext cx="2606040" cy="1005840"/>
          </a:xfrm>
          <a:prstGeom prst="roundRect">
            <a:avLst>
              <a:gd name="adj" fmla="val 7273"/>
            </a:avLst>
          </a:prstGeom>
          <a:solidFill>
            <a:schemeClr val="bg2"/>
          </a:solidFill>
          <a:ln w="12700">
            <a:solidFill>
              <a:schemeClr val="bg2"/>
            </a:solidFill>
            <a:prstDash val="solid"/>
          </a:ln>
        </p:spPr>
      </p:sp>
      <p:sp>
        <p:nvSpPr>
          <p:cNvPr id="33" name="Text 31"/>
          <p:cNvSpPr txBox="1"/>
          <p:nvPr/>
        </p:nvSpPr>
        <p:spPr>
          <a:xfrm>
            <a:off x="594360" y="3611880"/>
            <a:ext cx="2377440" cy="274320"/>
          </a:xfrm>
          <a:prstGeom prst="rect">
            <a:avLst/>
          </a:prstGeom>
          <a:noFill/>
          <a:ln/>
        </p:spPr>
        <p:txBody>
          <a:bodyPr wrap="square" lIns="0" tIns="0" rIns="0" bIns="0" rtlCol="0" anchor="t"/>
          <a:lstStyle/>
          <a:p>
            <a:pPr indent="0" marL="0">
              <a:buNone/>
            </a:pPr>
            <a:r>
              <a:rPr lang="en-US" sz="1500" b="1" dirty="0">
                <a:solidFill>
                  <a:schemeClr val="accent1"/>
                </a:solidFill>
              </a:rPr>
              <a:t>Vision</a:t>
            </a:r>
            <a:endParaRPr lang="en-US" sz="1500" dirty="0"/>
          </a:p>
        </p:txBody>
      </p:sp>
      <p:sp>
        <p:nvSpPr>
          <p:cNvPr id="34" name="Text 32"/>
          <p:cNvSpPr txBox="1"/>
          <p:nvPr/>
        </p:nvSpPr>
        <p:spPr>
          <a:xfrm>
            <a:off x="594360" y="3913632"/>
            <a:ext cx="2377440" cy="548640"/>
          </a:xfrm>
          <a:prstGeom prst="rect">
            <a:avLst/>
          </a:prstGeom>
          <a:noFill/>
          <a:ln/>
        </p:spPr>
        <p:txBody>
          <a:bodyPr wrap="square" lIns="0" tIns="0" rIns="0" bIns="0" rtlCol="0" anchor="t"/>
          <a:lstStyle/>
          <a:p>
            <a:pPr indent="0" marL="0">
              <a:buNone/>
            </a:pPr>
            <a:r>
              <a:rPr lang="en-US" sz="1300" dirty="0">
                <a:solidFill>
                  <a:schemeClr val="tx1"/>
                </a:solidFill>
              </a:rPr>
              <a:t>sees what is visible</a:t>
            </a:r>
            <a:endParaRPr lang="en-US" sz="1300" dirty="0"/>
          </a:p>
        </p:txBody>
      </p:sp>
      <p:sp>
        <p:nvSpPr>
          <p:cNvPr id="35" name="Shape 33"/>
          <p:cNvSpPr/>
          <p:nvPr/>
        </p:nvSpPr>
        <p:spPr>
          <a:xfrm>
            <a:off x="3246120" y="3520440"/>
            <a:ext cx="2606040" cy="1005840"/>
          </a:xfrm>
          <a:prstGeom prst="roundRect">
            <a:avLst>
              <a:gd name="adj" fmla="val 7273"/>
            </a:avLst>
          </a:prstGeom>
          <a:solidFill>
            <a:schemeClr val="bg2"/>
          </a:solidFill>
          <a:ln w="12700">
            <a:solidFill>
              <a:schemeClr val="bg2"/>
            </a:solidFill>
            <a:prstDash val="solid"/>
          </a:ln>
        </p:spPr>
      </p:sp>
      <p:sp>
        <p:nvSpPr>
          <p:cNvPr id="36" name="Text 34"/>
          <p:cNvSpPr txBox="1"/>
          <p:nvPr/>
        </p:nvSpPr>
        <p:spPr>
          <a:xfrm>
            <a:off x="3383280" y="3611880"/>
            <a:ext cx="2377440" cy="274320"/>
          </a:xfrm>
          <a:prstGeom prst="rect">
            <a:avLst/>
          </a:prstGeom>
          <a:noFill/>
          <a:ln/>
        </p:spPr>
        <p:txBody>
          <a:bodyPr wrap="square" lIns="0" tIns="0" rIns="0" bIns="0" rtlCol="0" anchor="t"/>
          <a:lstStyle/>
          <a:p>
            <a:pPr indent="0" marL="0">
              <a:buNone/>
            </a:pPr>
            <a:r>
              <a:rPr lang="en-US" sz="1500" b="1" dirty="0">
                <a:solidFill>
                  <a:schemeClr val="accent1"/>
                </a:solidFill>
              </a:rPr>
              <a:t>Knowledge base</a:t>
            </a:r>
            <a:endParaRPr lang="en-US" sz="1500" dirty="0"/>
          </a:p>
        </p:txBody>
      </p:sp>
      <p:sp>
        <p:nvSpPr>
          <p:cNvPr id="37" name="Text 35"/>
          <p:cNvSpPr txBox="1"/>
          <p:nvPr/>
        </p:nvSpPr>
        <p:spPr>
          <a:xfrm>
            <a:off x="3383280" y="3913632"/>
            <a:ext cx="2377440" cy="548640"/>
          </a:xfrm>
          <a:prstGeom prst="rect">
            <a:avLst/>
          </a:prstGeom>
          <a:noFill/>
          <a:ln/>
        </p:spPr>
        <p:txBody>
          <a:bodyPr wrap="square" lIns="0" tIns="0" rIns="0" bIns="0" rtlCol="0" anchor="t"/>
          <a:lstStyle/>
          <a:p>
            <a:pPr indent="0" marL="0">
              <a:buNone/>
            </a:pPr>
            <a:r>
              <a:rPr lang="en-US" sz="1300" dirty="0">
                <a:solidFill>
                  <a:schemeClr val="tx1"/>
                </a:solidFill>
              </a:rPr>
              <a:t>knows what it means and how urgent</a:t>
            </a:r>
            <a:endParaRPr lang="en-US" sz="1300" dirty="0"/>
          </a:p>
        </p:txBody>
      </p:sp>
      <p:sp>
        <p:nvSpPr>
          <p:cNvPr id="38" name="Shape 36"/>
          <p:cNvSpPr/>
          <p:nvPr/>
        </p:nvSpPr>
        <p:spPr>
          <a:xfrm>
            <a:off x="6035040" y="3520440"/>
            <a:ext cx="2606040" cy="1005840"/>
          </a:xfrm>
          <a:prstGeom prst="roundRect">
            <a:avLst>
              <a:gd name="adj" fmla="val 7273"/>
            </a:avLst>
          </a:prstGeom>
          <a:solidFill>
            <a:schemeClr val="bg2"/>
          </a:solidFill>
          <a:ln w="12700">
            <a:solidFill>
              <a:schemeClr val="bg2"/>
            </a:solidFill>
            <a:prstDash val="solid"/>
          </a:ln>
        </p:spPr>
      </p:sp>
      <p:sp>
        <p:nvSpPr>
          <p:cNvPr id="39" name="Text 37"/>
          <p:cNvSpPr txBox="1"/>
          <p:nvPr/>
        </p:nvSpPr>
        <p:spPr>
          <a:xfrm>
            <a:off x="6172200" y="3611880"/>
            <a:ext cx="2377440" cy="274320"/>
          </a:xfrm>
          <a:prstGeom prst="rect">
            <a:avLst/>
          </a:prstGeom>
          <a:noFill/>
          <a:ln/>
        </p:spPr>
        <p:txBody>
          <a:bodyPr wrap="square" lIns="0" tIns="0" rIns="0" bIns="0" rtlCol="0" anchor="t"/>
          <a:lstStyle/>
          <a:p>
            <a:pPr indent="0" marL="0">
              <a:buNone/>
            </a:pPr>
            <a:r>
              <a:rPr lang="en-US" sz="1500" b="1" dirty="0">
                <a:solidFill>
                  <a:schemeClr val="accent1"/>
                </a:solidFill>
              </a:rPr>
              <a:t>LLM</a:t>
            </a:r>
            <a:endParaRPr lang="en-US" sz="1500" dirty="0"/>
          </a:p>
        </p:txBody>
      </p:sp>
      <p:sp>
        <p:nvSpPr>
          <p:cNvPr id="40" name="Text 38"/>
          <p:cNvSpPr txBox="1"/>
          <p:nvPr/>
        </p:nvSpPr>
        <p:spPr>
          <a:xfrm>
            <a:off x="6172200" y="3913632"/>
            <a:ext cx="2377440" cy="548640"/>
          </a:xfrm>
          <a:prstGeom prst="rect">
            <a:avLst/>
          </a:prstGeom>
          <a:noFill/>
          <a:ln/>
        </p:spPr>
        <p:txBody>
          <a:bodyPr wrap="square" lIns="0" tIns="0" rIns="0" bIns="0" rtlCol="0" anchor="t"/>
          <a:lstStyle/>
          <a:p>
            <a:pPr indent="0" marL="0">
              <a:buNone/>
            </a:pPr>
            <a:r>
              <a:rPr lang="en-US" sz="1300" dirty="0">
                <a:solidFill>
                  <a:schemeClr val="tx1"/>
                </a:solidFill>
              </a:rPr>
              <a:t>puts it in plain words: it never decides, never sees photos</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t"/>
          <a:lstStyle/>
          <a:p>
            <a:pPr algn="l" indent="0" marL="0">
              <a:buNone/>
            </a:pPr>
            <a:r>
              <a:rPr lang="en-US" sz="2800" b="1" dirty="0">
                <a:solidFill>
                  <a:schemeClr val="tx1"/>
                </a:solidFill>
              </a:rPr>
              <a:t>We trained it and measured it ourselves</a:t>
            </a:r>
            <a:endParaRPr lang="en-US" sz="2800" dirty="0"/>
          </a:p>
        </p:txBody>
      </p:sp>
      <p:sp>
        <p:nvSpPr>
          <p:cNvPr id="3" name="Text 1"/>
          <p:cNvSpPr txBox="1"/>
          <p:nvPr/>
        </p:nvSpPr>
        <p:spPr>
          <a:xfrm>
            <a:off x="457200" y="1051560"/>
            <a:ext cx="1737360" cy="54864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0.735</a:t>
            </a:r>
            <a:endParaRPr lang="en-US" sz="3400" dirty="0"/>
          </a:p>
        </p:txBody>
      </p:sp>
      <p:sp>
        <p:nvSpPr>
          <p:cNvPr id="4" name="Text 2"/>
          <p:cNvSpPr txBox="1"/>
          <p:nvPr/>
        </p:nvSpPr>
        <p:spPr>
          <a:xfrm>
            <a:off x="2240280" y="1161288"/>
            <a:ext cx="2011680" cy="548640"/>
          </a:xfrm>
          <a:prstGeom prst="rect">
            <a:avLst/>
          </a:prstGeom>
          <a:noFill/>
          <a:ln/>
        </p:spPr>
        <p:txBody>
          <a:bodyPr wrap="square" lIns="0" tIns="0" rIns="0" bIns="0" rtlCol="0" anchor="t"/>
          <a:lstStyle/>
          <a:p>
            <a:pPr indent="0" marL="0">
              <a:buNone/>
            </a:pPr>
            <a:r>
              <a:rPr lang="en-US" sz="1300" dirty="0">
                <a:solidFill>
                  <a:schemeClr val="tx1"/>
                </a:solidFill>
              </a:rPr>
              <a:t>mAP50 on our held-out test set</a:t>
            </a:r>
            <a:endParaRPr lang="en-US" sz="1300" dirty="0"/>
          </a:p>
        </p:txBody>
      </p:sp>
      <p:sp>
        <p:nvSpPr>
          <p:cNvPr id="5" name="Text 3"/>
          <p:cNvSpPr txBox="1"/>
          <p:nvPr/>
        </p:nvSpPr>
        <p:spPr>
          <a:xfrm>
            <a:off x="457200" y="2011680"/>
            <a:ext cx="1737360" cy="54864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0.714</a:t>
            </a:r>
            <a:endParaRPr lang="en-US" sz="3400" dirty="0"/>
          </a:p>
        </p:txBody>
      </p:sp>
      <p:sp>
        <p:nvSpPr>
          <p:cNvPr id="6" name="Text 4"/>
          <p:cNvSpPr txBox="1"/>
          <p:nvPr/>
        </p:nvSpPr>
        <p:spPr>
          <a:xfrm>
            <a:off x="2240280" y="2121408"/>
            <a:ext cx="2011680" cy="548640"/>
          </a:xfrm>
          <a:prstGeom prst="rect">
            <a:avLst/>
          </a:prstGeom>
          <a:noFill/>
          <a:ln/>
        </p:spPr>
        <p:txBody>
          <a:bodyPr wrap="square" lIns="0" tIns="0" rIns="0" bIns="0" rtlCol="0" anchor="t"/>
          <a:lstStyle/>
          <a:p>
            <a:pPr indent="0" marL="0">
              <a:buNone/>
            </a:pPr>
            <a:r>
              <a:rPr lang="en-US" sz="1300" dirty="0">
                <a:solidFill>
                  <a:schemeClr val="tx1"/>
                </a:solidFill>
              </a:rPr>
              <a:t>macro F1 (conf 0.35, IoU 0.5)</a:t>
            </a:r>
            <a:endParaRPr lang="en-US" sz="1300" dirty="0"/>
          </a:p>
        </p:txBody>
      </p:sp>
      <p:sp>
        <p:nvSpPr>
          <p:cNvPr id="7" name="Text 5"/>
          <p:cNvSpPr txBox="1"/>
          <p:nvPr/>
        </p:nvSpPr>
        <p:spPr>
          <a:xfrm>
            <a:off x="457200" y="2971800"/>
            <a:ext cx="1737360" cy="54864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0.36 s</a:t>
            </a:r>
            <a:endParaRPr lang="en-US" sz="3400" dirty="0"/>
          </a:p>
        </p:txBody>
      </p:sp>
      <p:sp>
        <p:nvSpPr>
          <p:cNvPr id="8" name="Text 6"/>
          <p:cNvSpPr txBox="1"/>
          <p:nvPr/>
        </p:nvSpPr>
        <p:spPr>
          <a:xfrm>
            <a:off x="2240280" y="3081528"/>
            <a:ext cx="2011680" cy="548640"/>
          </a:xfrm>
          <a:prstGeom prst="rect">
            <a:avLst/>
          </a:prstGeom>
          <a:noFill/>
          <a:ln/>
        </p:spPr>
        <p:txBody>
          <a:bodyPr wrap="square" lIns="0" tIns="0" rIns="0" bIns="0" rtlCol="0" anchor="t"/>
          <a:lstStyle/>
          <a:p>
            <a:pPr indent="0" marL="0">
              <a:buNone/>
            </a:pPr>
            <a:r>
              <a:rPr lang="en-US" sz="1300" dirty="0">
                <a:solidFill>
                  <a:schemeClr val="tx1"/>
                </a:solidFill>
              </a:rPr>
              <a:t>per photo on a laptop CPU, no GPU</a:t>
            </a:r>
            <a:endParaRPr lang="en-US" sz="1300" dirty="0"/>
          </a:p>
        </p:txBody>
      </p:sp>
      <p:graphicFrame>
        <p:nvGraphicFramePr>
          <p:cNvPr id="9" name="Chart 0" descr=""/>
          <p:cNvGraphicFramePr/>
          <p:nvPr/>
        </p:nvGraphicFramePr>
        <p:xfrm>
          <a:off x="4434840" y="1005840"/>
          <a:ext cx="4251960" cy="2286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457200" y="3703320"/>
            <a:ext cx="8229600" cy="868680"/>
          </a:xfrm>
          <a:prstGeom prst="roundRect">
            <a:avLst>
              <a:gd name="adj" fmla="val 8421"/>
            </a:avLst>
          </a:prstGeom>
          <a:solidFill>
            <a:schemeClr val="bg2"/>
          </a:solidFill>
          <a:ln w="12700">
            <a:solidFill>
              <a:schemeClr val="bg2"/>
            </a:solidFill>
            <a:prstDash val="solid"/>
          </a:ln>
        </p:spPr>
      </p:sp>
      <p:sp>
        <p:nvSpPr>
          <p:cNvPr id="11" name="Text 8"/>
          <p:cNvSpPr txBox="1"/>
          <p:nvPr/>
        </p:nvSpPr>
        <p:spPr>
          <a:xfrm>
            <a:off x="594360" y="3767328"/>
            <a:ext cx="7955280" cy="777240"/>
          </a:xfrm>
          <a:prstGeom prst="rect">
            <a:avLst/>
          </a:prstGeom>
          <a:noFill/>
          <a:ln/>
        </p:spPr>
        <p:txBody>
          <a:bodyPr wrap="square" lIns="0" tIns="0" rIns="0" bIns="0" rtlCol="0" anchor="t"/>
          <a:lstStyle/>
          <a:p>
            <a:pPr indent="0" marL="0">
              <a:buNone/>
            </a:pPr>
            <a:r>
              <a:rPr lang="en-US" sz="1200" dirty="0">
                <a:solidFill>
                  <a:schemeClr val="tx1"/>
                </a:solidFill>
              </a:rPr>
              <a:t>Data: CarDD, 2,816 train / 810 validation images, 6 classes; trained on NVIDIA L4 (Hugging Face Jobs).</a:t>
            </a:r>
            <a:endParaRPr lang="en-US" sz="1200" dirty="0"/>
          </a:p>
          <a:p>
            <a:pPr indent="0" marL="0">
              <a:buNone/>
            </a:pPr>
            <a:r>
              <a:rPr lang="en-US" sz="1200" dirty="0">
                <a:solidFill>
                  <a:schemeClr val="tx1"/>
                </a:solidFill>
              </a:rPr>
              <a:t>Known failure cases: cracks and small defects; not yet tested at night, in rain or on Uzbek cars; a photo cannot show hidden damage.</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t"/>
          <a:lstStyle/>
          <a:p>
            <a:pPr algn="l" indent="0" marL="0">
              <a:buNone/>
            </a:pPr>
            <a:r>
              <a:rPr lang="en-US" sz="2800" b="1" dirty="0">
                <a:solidFill>
                  <a:schemeClr val="tx1"/>
                </a:solidFill>
              </a:rPr>
              <a:t>Why another team can't rebuild it in a weekend</a:t>
            </a:r>
            <a:endParaRPr lang="en-US" sz="2800" dirty="0"/>
          </a:p>
        </p:txBody>
      </p:sp>
      <p:sp>
        <p:nvSpPr>
          <p:cNvPr id="3" name="Shape 1"/>
          <p:cNvSpPr/>
          <p:nvPr/>
        </p:nvSpPr>
        <p:spPr>
          <a:xfrm>
            <a:off x="457200" y="1097280"/>
            <a:ext cx="4023360" cy="1508760"/>
          </a:xfrm>
          <a:prstGeom prst="roundRect">
            <a:avLst>
              <a:gd name="adj" fmla="val 4848"/>
            </a:avLst>
          </a:prstGeom>
          <a:solidFill>
            <a:schemeClr val="bg2"/>
          </a:solidFill>
          <a:ln w="12700">
            <a:solidFill>
              <a:schemeClr val="bg2"/>
            </a:solidFill>
            <a:prstDash val="solid"/>
          </a:ln>
        </p:spPr>
      </p:sp>
      <p:sp>
        <p:nvSpPr>
          <p:cNvPr id="4" name="Shape 2"/>
          <p:cNvSpPr/>
          <p:nvPr/>
        </p:nvSpPr>
        <p:spPr>
          <a:xfrm>
            <a:off x="640080" y="132588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640080" y="13258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325880" y="1325880"/>
            <a:ext cx="3017520" cy="320040"/>
          </a:xfrm>
          <a:prstGeom prst="rect">
            <a:avLst/>
          </a:prstGeom>
          <a:noFill/>
          <a:ln/>
        </p:spPr>
        <p:txBody>
          <a:bodyPr wrap="square" lIns="0" tIns="0" rIns="0" bIns="0" rtlCol="0" anchor="t"/>
          <a:lstStyle/>
          <a:p>
            <a:pPr indent="0" marL="0">
              <a:buNone/>
            </a:pPr>
            <a:r>
              <a:rPr lang="en-US" sz="1600" b="1" dirty="0">
                <a:solidFill>
                  <a:schemeClr val="tx1"/>
                </a:solidFill>
              </a:rPr>
              <a:t>Own detector</a:t>
            </a:r>
            <a:endParaRPr lang="en-US" sz="1600" dirty="0"/>
          </a:p>
        </p:txBody>
      </p:sp>
      <p:sp>
        <p:nvSpPr>
          <p:cNvPr id="7" name="Text 5"/>
          <p:cNvSpPr txBox="1"/>
          <p:nvPr/>
        </p:nvSpPr>
        <p:spPr>
          <a:xfrm>
            <a:off x="1325880" y="1691640"/>
            <a:ext cx="3017520" cy="822960"/>
          </a:xfrm>
          <a:prstGeom prst="rect">
            <a:avLst/>
          </a:prstGeom>
          <a:noFill/>
          <a:ln/>
        </p:spPr>
        <p:txBody>
          <a:bodyPr wrap="square" lIns="0" tIns="0" rIns="0" bIns="0" rtlCol="0" anchor="t"/>
          <a:lstStyle/>
          <a:p>
            <a:pPr indent="0" marL="0">
              <a:buNone/>
            </a:pPr>
            <a:r>
              <a:rPr lang="en-US" sz="1300" dirty="0">
                <a:solidFill>
                  <a:schemeClr val="accent5"/>
                </a:solidFill>
              </a:rPr>
              <a:t>Fine-tuned RF-DETR with our training and evaluation pipeline and per-class results</a:t>
            </a:r>
            <a:endParaRPr lang="en-US" sz="1300" dirty="0"/>
          </a:p>
        </p:txBody>
      </p:sp>
      <p:sp>
        <p:nvSpPr>
          <p:cNvPr id="8" name="Shape 6"/>
          <p:cNvSpPr/>
          <p:nvPr/>
        </p:nvSpPr>
        <p:spPr>
          <a:xfrm>
            <a:off x="4663440" y="1097280"/>
            <a:ext cx="4023360" cy="1508760"/>
          </a:xfrm>
          <a:prstGeom prst="roundRect">
            <a:avLst>
              <a:gd name="adj" fmla="val 4848"/>
            </a:avLst>
          </a:prstGeom>
          <a:solidFill>
            <a:schemeClr val="bg2"/>
          </a:solidFill>
          <a:ln w="12700">
            <a:solidFill>
              <a:schemeClr val="bg2"/>
            </a:solidFill>
            <a:prstDash val="solid"/>
          </a:ln>
        </p:spPr>
      </p:sp>
      <p:sp>
        <p:nvSpPr>
          <p:cNvPr id="9" name="Shape 7"/>
          <p:cNvSpPr/>
          <p:nvPr/>
        </p:nvSpPr>
        <p:spPr>
          <a:xfrm>
            <a:off x="4846320" y="132588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4846320" y="13258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5532120" y="1325880"/>
            <a:ext cx="3017520" cy="320040"/>
          </a:xfrm>
          <a:prstGeom prst="rect">
            <a:avLst/>
          </a:prstGeom>
          <a:noFill/>
          <a:ln/>
        </p:spPr>
        <p:txBody>
          <a:bodyPr wrap="square" lIns="0" tIns="0" rIns="0" bIns="0" rtlCol="0" anchor="t"/>
          <a:lstStyle/>
          <a:p>
            <a:pPr indent="0" marL="0">
              <a:buNone/>
            </a:pPr>
            <a:r>
              <a:rPr lang="en-US" sz="1600" b="1" dirty="0">
                <a:solidFill>
                  <a:schemeClr val="tx1"/>
                </a:solidFill>
              </a:rPr>
              <a:t>Local knowledge</a:t>
            </a:r>
            <a:endParaRPr lang="en-US" sz="1600" dirty="0"/>
          </a:p>
        </p:txBody>
      </p:sp>
      <p:sp>
        <p:nvSpPr>
          <p:cNvPr id="12" name="Text 10"/>
          <p:cNvSpPr txBox="1"/>
          <p:nvPr/>
        </p:nvSpPr>
        <p:spPr>
          <a:xfrm>
            <a:off x="5532120" y="1691640"/>
            <a:ext cx="3017520" cy="822960"/>
          </a:xfrm>
          <a:prstGeom prst="rect">
            <a:avLst/>
          </a:prstGeom>
          <a:noFill/>
          <a:ln/>
        </p:spPr>
        <p:txBody>
          <a:bodyPr wrap="square" lIns="0" tIns="0" rIns="0" bIns="0" rtlCol="0" anchor="t"/>
          <a:lstStyle/>
          <a:p>
            <a:pPr indent="0" marL="0">
              <a:buNone/>
            </a:pPr>
            <a:r>
              <a:rPr lang="en-US" sz="1300" dirty="0">
                <a:solidFill>
                  <a:schemeClr val="accent5"/>
                </a:solidFill>
              </a:rPr>
              <a:t>Sourced records for Cobalt, Lacetti, Nexia and Damas, with manual page references</a:t>
            </a:r>
            <a:endParaRPr lang="en-US" sz="1300" dirty="0"/>
          </a:p>
        </p:txBody>
      </p:sp>
      <p:sp>
        <p:nvSpPr>
          <p:cNvPr id="13" name="Shape 11"/>
          <p:cNvSpPr/>
          <p:nvPr/>
        </p:nvSpPr>
        <p:spPr>
          <a:xfrm>
            <a:off x="457200" y="2788920"/>
            <a:ext cx="4023360" cy="1508760"/>
          </a:xfrm>
          <a:prstGeom prst="roundRect">
            <a:avLst>
              <a:gd name="adj" fmla="val 4848"/>
            </a:avLst>
          </a:prstGeom>
          <a:solidFill>
            <a:schemeClr val="bg2"/>
          </a:solidFill>
          <a:ln w="12700">
            <a:solidFill>
              <a:schemeClr val="bg2"/>
            </a:solidFill>
            <a:prstDash val="solid"/>
          </a:ln>
        </p:spPr>
      </p:sp>
      <p:sp>
        <p:nvSpPr>
          <p:cNvPr id="14" name="Shape 12"/>
          <p:cNvSpPr/>
          <p:nvPr/>
        </p:nvSpPr>
        <p:spPr>
          <a:xfrm>
            <a:off x="640080" y="3017520"/>
            <a:ext cx="502920" cy="502920"/>
          </a:xfrm>
          <a:prstGeom prst="ellipse">
            <a:avLst/>
          </a:prstGeom>
          <a:solidFill>
            <a:schemeClr val="accent1"/>
          </a:solidFill>
          <a:ln w="12700">
            <a:solidFill>
              <a:schemeClr val="accent1"/>
            </a:solidFill>
            <a:prstDash val="solid"/>
          </a:ln>
        </p:spPr>
      </p:sp>
      <p:sp>
        <p:nvSpPr>
          <p:cNvPr id="15" name="Text 13"/>
          <p:cNvSpPr txBox="1"/>
          <p:nvPr/>
        </p:nvSpPr>
        <p:spPr>
          <a:xfrm>
            <a:off x="640080" y="3017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1325880" y="3017520"/>
            <a:ext cx="3017520" cy="320040"/>
          </a:xfrm>
          <a:prstGeom prst="rect">
            <a:avLst/>
          </a:prstGeom>
          <a:noFill/>
          <a:ln/>
        </p:spPr>
        <p:txBody>
          <a:bodyPr wrap="square" lIns="0" tIns="0" rIns="0" bIns="0" rtlCol="0" anchor="t"/>
          <a:lstStyle/>
          <a:p>
            <a:pPr indent="0" marL="0">
              <a:buNone/>
            </a:pPr>
            <a:r>
              <a:rPr lang="en-US" sz="1600" b="1" dirty="0">
                <a:solidFill>
                  <a:schemeClr val="tx1"/>
                </a:solidFill>
              </a:rPr>
              <a:t>Safety logic</a:t>
            </a:r>
            <a:endParaRPr lang="en-US" sz="1600" dirty="0"/>
          </a:p>
        </p:txBody>
      </p:sp>
      <p:sp>
        <p:nvSpPr>
          <p:cNvPr id="17" name="Text 15"/>
          <p:cNvSpPr txBox="1"/>
          <p:nvPr/>
        </p:nvSpPr>
        <p:spPr>
          <a:xfrm>
            <a:off x="1325880" y="3383280"/>
            <a:ext cx="3017520" cy="822960"/>
          </a:xfrm>
          <a:prstGeom prst="rect">
            <a:avLst/>
          </a:prstGeom>
          <a:noFill/>
          <a:ln/>
        </p:spPr>
        <p:txBody>
          <a:bodyPr wrap="square" lIns="0" tIns="0" rIns="0" bIns="0" rtlCol="0" anchor="t"/>
          <a:lstStyle/>
          <a:p>
            <a:pPr indent="0" marL="0">
              <a:buNone/>
            </a:pPr>
            <a:r>
              <a:rPr lang="en-US" sz="1300" dirty="0">
                <a:solidFill>
                  <a:schemeClr val="accent5"/>
                </a:solidFill>
              </a:rPr>
              <a:t>Asks "engine running? parking brake released?" before model-specific advice</a:t>
            </a:r>
            <a:endParaRPr lang="en-US" sz="1300" dirty="0"/>
          </a:p>
        </p:txBody>
      </p:sp>
      <p:sp>
        <p:nvSpPr>
          <p:cNvPr id="18" name="Shape 16"/>
          <p:cNvSpPr/>
          <p:nvPr/>
        </p:nvSpPr>
        <p:spPr>
          <a:xfrm>
            <a:off x="4663440" y="2788920"/>
            <a:ext cx="4023360" cy="1508760"/>
          </a:xfrm>
          <a:prstGeom prst="roundRect">
            <a:avLst>
              <a:gd name="adj" fmla="val 4848"/>
            </a:avLst>
          </a:prstGeom>
          <a:solidFill>
            <a:schemeClr val="bg2"/>
          </a:solidFill>
          <a:ln w="12700">
            <a:solidFill>
              <a:schemeClr val="bg2"/>
            </a:solidFill>
            <a:prstDash val="solid"/>
          </a:ln>
        </p:spPr>
      </p:sp>
      <p:sp>
        <p:nvSpPr>
          <p:cNvPr id="19" name="Shape 17"/>
          <p:cNvSpPr/>
          <p:nvPr/>
        </p:nvSpPr>
        <p:spPr>
          <a:xfrm>
            <a:off x="4846320" y="3017520"/>
            <a:ext cx="502920" cy="502920"/>
          </a:xfrm>
          <a:prstGeom prst="ellipse">
            <a:avLst/>
          </a:prstGeom>
          <a:solidFill>
            <a:schemeClr val="accent1"/>
          </a:solidFill>
          <a:ln w="12700">
            <a:solidFill>
              <a:schemeClr val="accent1"/>
            </a:solidFill>
            <a:prstDash val="solid"/>
          </a:ln>
        </p:spPr>
      </p:sp>
      <p:sp>
        <p:nvSpPr>
          <p:cNvPr id="20" name="Text 18"/>
          <p:cNvSpPr txBox="1"/>
          <p:nvPr/>
        </p:nvSpPr>
        <p:spPr>
          <a:xfrm>
            <a:off x="4846320" y="3017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5532120" y="3017520"/>
            <a:ext cx="3017520" cy="320040"/>
          </a:xfrm>
          <a:prstGeom prst="rect">
            <a:avLst/>
          </a:prstGeom>
          <a:noFill/>
          <a:ln/>
        </p:spPr>
        <p:txBody>
          <a:bodyPr wrap="square" lIns="0" tIns="0" rIns="0" bIns="0" rtlCol="0" anchor="t"/>
          <a:lstStyle/>
          <a:p>
            <a:pPr indent="0" marL="0">
              <a:buNone/>
            </a:pPr>
            <a:r>
              <a:rPr lang="en-US" sz="1600" b="1" dirty="0">
                <a:solidFill>
                  <a:schemeClr val="tx1"/>
                </a:solidFill>
              </a:rPr>
              <a:t>Next data moat</a:t>
            </a:r>
            <a:endParaRPr lang="en-US" sz="1600" dirty="0"/>
          </a:p>
        </p:txBody>
      </p:sp>
      <p:sp>
        <p:nvSpPr>
          <p:cNvPr id="22" name="Text 20"/>
          <p:cNvSpPr txBox="1"/>
          <p:nvPr/>
        </p:nvSpPr>
        <p:spPr>
          <a:xfrm>
            <a:off x="5532120" y="3383280"/>
            <a:ext cx="3017520" cy="822960"/>
          </a:xfrm>
          <a:prstGeom prst="rect">
            <a:avLst/>
          </a:prstGeom>
          <a:noFill/>
          <a:ln/>
        </p:spPr>
        <p:txBody>
          <a:bodyPr wrap="square" lIns="0" tIns="0" rIns="0" bIns="0" rtlCol="0" anchor="t"/>
          <a:lstStyle/>
          <a:p>
            <a:pPr indent="0" marL="0">
              <a:buNone/>
            </a:pPr>
            <a:r>
              <a:rPr lang="en-US" sz="1300" dirty="0">
                <a:solidFill>
                  <a:schemeClr val="accent5"/>
                </a:solidFill>
              </a:rPr>
              <a:t>Our photos of Uzbek cars + confirmed repair outcomes from partner workshops</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t"/>
          <a:lstStyle/>
          <a:p>
            <a:pPr algn="l" indent="0" marL="0">
              <a:buNone/>
            </a:pPr>
            <a:r>
              <a:rPr lang="en-US" sz="2800" b="1" dirty="0">
                <a:solidFill>
                  <a:schemeClr val="tx1"/>
                </a:solidFill>
              </a:rPr>
              <a:t>One report, three paying sides</a:t>
            </a:r>
            <a:endParaRPr lang="en-US" sz="2800" dirty="0"/>
          </a:p>
        </p:txBody>
      </p:sp>
      <p:sp>
        <p:nvSpPr>
          <p:cNvPr id="3" name="Shape 1"/>
          <p:cNvSpPr/>
          <p:nvPr/>
        </p:nvSpPr>
        <p:spPr>
          <a:xfrm>
            <a:off x="457200" y="1097280"/>
            <a:ext cx="2606040" cy="1143000"/>
          </a:xfrm>
          <a:prstGeom prst="roundRect">
            <a:avLst>
              <a:gd name="adj" fmla="val 6400"/>
            </a:avLst>
          </a:prstGeom>
          <a:solidFill>
            <a:schemeClr val="tx2"/>
          </a:solidFill>
          <a:ln w="12700">
            <a:solidFill>
              <a:schemeClr val="tx2"/>
            </a:solidFill>
            <a:prstDash val="solid"/>
          </a:ln>
        </p:spPr>
      </p:sp>
      <p:sp>
        <p:nvSpPr>
          <p:cNvPr id="4" name="Text 2"/>
          <p:cNvSpPr txBox="1"/>
          <p:nvPr/>
        </p:nvSpPr>
        <p:spPr>
          <a:xfrm>
            <a:off x="640080" y="1234440"/>
            <a:ext cx="2286000" cy="320040"/>
          </a:xfrm>
          <a:prstGeom prst="rect">
            <a:avLst/>
          </a:prstGeom>
          <a:noFill/>
          <a:ln/>
        </p:spPr>
        <p:txBody>
          <a:bodyPr wrap="square" lIns="0" tIns="0" rIns="0" bIns="0" rtlCol="0" anchor="t"/>
          <a:lstStyle/>
          <a:p>
            <a:pPr indent="0" marL="0">
              <a:buNone/>
            </a:pPr>
            <a:r>
              <a:rPr lang="en-US" sz="1700" b="1" dirty="0">
                <a:solidFill>
                  <a:schemeClr val="bg1"/>
                </a:solidFill>
              </a:rPr>
              <a:t>Marketplaces</a:t>
            </a:r>
            <a:endParaRPr lang="en-US" sz="1700" dirty="0"/>
          </a:p>
        </p:txBody>
      </p:sp>
      <p:sp>
        <p:nvSpPr>
          <p:cNvPr id="5" name="Text 3"/>
          <p:cNvSpPr txBox="1"/>
          <p:nvPr/>
        </p:nvSpPr>
        <p:spPr>
          <a:xfrm>
            <a:off x="640080" y="1627632"/>
            <a:ext cx="2286000" cy="457200"/>
          </a:xfrm>
          <a:prstGeom prst="rect">
            <a:avLst/>
          </a:prstGeom>
          <a:noFill/>
          <a:ln/>
        </p:spPr>
        <p:txBody>
          <a:bodyPr wrap="square" lIns="0" tIns="0" rIns="0" bIns="0" rtlCol="0" anchor="t"/>
          <a:lstStyle/>
          <a:p>
            <a:pPr indent="0" marL="0">
              <a:buNone/>
            </a:pPr>
            <a:r>
              <a:rPr lang="en-US" sz="1300" dirty="0">
                <a:solidFill>
                  <a:schemeClr val="accent6"/>
                </a:solidFill>
              </a:rPr>
              <a:t>per condition report or per listing</a:t>
            </a:r>
            <a:endParaRPr lang="en-US" sz="1300" dirty="0"/>
          </a:p>
        </p:txBody>
      </p:sp>
      <p:sp>
        <p:nvSpPr>
          <p:cNvPr id="6" name="Shape 4"/>
          <p:cNvSpPr/>
          <p:nvPr/>
        </p:nvSpPr>
        <p:spPr>
          <a:xfrm>
            <a:off x="3246120" y="1097280"/>
            <a:ext cx="2606040" cy="1143000"/>
          </a:xfrm>
          <a:prstGeom prst="roundRect">
            <a:avLst>
              <a:gd name="adj" fmla="val 6400"/>
            </a:avLst>
          </a:prstGeom>
          <a:solidFill>
            <a:schemeClr val="tx2"/>
          </a:solidFill>
          <a:ln w="12700">
            <a:solidFill>
              <a:schemeClr val="tx2"/>
            </a:solidFill>
            <a:prstDash val="solid"/>
          </a:ln>
        </p:spPr>
      </p:sp>
      <p:sp>
        <p:nvSpPr>
          <p:cNvPr id="7" name="Text 5"/>
          <p:cNvSpPr txBox="1"/>
          <p:nvPr/>
        </p:nvSpPr>
        <p:spPr>
          <a:xfrm>
            <a:off x="3429000" y="1234440"/>
            <a:ext cx="2286000" cy="320040"/>
          </a:xfrm>
          <a:prstGeom prst="rect">
            <a:avLst/>
          </a:prstGeom>
          <a:noFill/>
          <a:ln/>
        </p:spPr>
        <p:txBody>
          <a:bodyPr wrap="square" lIns="0" tIns="0" rIns="0" bIns="0" rtlCol="0" anchor="t"/>
          <a:lstStyle/>
          <a:p>
            <a:pPr indent="0" marL="0">
              <a:buNone/>
            </a:pPr>
            <a:r>
              <a:rPr lang="en-US" sz="1700" b="1" dirty="0">
                <a:solidFill>
                  <a:schemeClr val="bg1"/>
                </a:solidFill>
              </a:rPr>
              <a:t>Fleets</a:t>
            </a:r>
            <a:endParaRPr lang="en-US" sz="1700" dirty="0"/>
          </a:p>
        </p:txBody>
      </p:sp>
      <p:sp>
        <p:nvSpPr>
          <p:cNvPr id="8" name="Text 6"/>
          <p:cNvSpPr txBox="1"/>
          <p:nvPr/>
        </p:nvSpPr>
        <p:spPr>
          <a:xfrm>
            <a:off x="3429000" y="1627632"/>
            <a:ext cx="2286000" cy="457200"/>
          </a:xfrm>
          <a:prstGeom prst="rect">
            <a:avLst/>
          </a:prstGeom>
          <a:noFill/>
          <a:ln/>
        </p:spPr>
        <p:txBody>
          <a:bodyPr wrap="square" lIns="0" tIns="0" rIns="0" bIns="0" rtlCol="0" anchor="t"/>
          <a:lstStyle/>
          <a:p>
            <a:pPr indent="0" marL="0">
              <a:buNone/>
            </a:pPr>
            <a:r>
              <a:rPr lang="en-US" sz="1300" dirty="0">
                <a:solidFill>
                  <a:schemeClr val="accent6"/>
                </a:solidFill>
              </a:rPr>
              <a:t>per vehicle per month</a:t>
            </a:r>
            <a:endParaRPr lang="en-US" sz="1300" dirty="0"/>
          </a:p>
        </p:txBody>
      </p:sp>
      <p:sp>
        <p:nvSpPr>
          <p:cNvPr id="9" name="Shape 7"/>
          <p:cNvSpPr/>
          <p:nvPr/>
        </p:nvSpPr>
        <p:spPr>
          <a:xfrm>
            <a:off x="6035040" y="1097280"/>
            <a:ext cx="2606040" cy="1143000"/>
          </a:xfrm>
          <a:prstGeom prst="roundRect">
            <a:avLst>
              <a:gd name="adj" fmla="val 6400"/>
            </a:avLst>
          </a:prstGeom>
          <a:solidFill>
            <a:schemeClr val="tx2"/>
          </a:solidFill>
          <a:ln w="12700">
            <a:solidFill>
              <a:schemeClr val="tx2"/>
            </a:solidFill>
            <a:prstDash val="solid"/>
          </a:ln>
        </p:spPr>
      </p:sp>
      <p:sp>
        <p:nvSpPr>
          <p:cNvPr id="10" name="Text 8"/>
          <p:cNvSpPr txBox="1"/>
          <p:nvPr/>
        </p:nvSpPr>
        <p:spPr>
          <a:xfrm>
            <a:off x="6217920" y="1234440"/>
            <a:ext cx="2286000" cy="320040"/>
          </a:xfrm>
          <a:prstGeom prst="rect">
            <a:avLst/>
          </a:prstGeom>
          <a:noFill/>
          <a:ln/>
        </p:spPr>
        <p:txBody>
          <a:bodyPr wrap="square" lIns="0" tIns="0" rIns="0" bIns="0" rtlCol="0" anchor="t"/>
          <a:lstStyle/>
          <a:p>
            <a:pPr indent="0" marL="0">
              <a:buNone/>
            </a:pPr>
            <a:r>
              <a:rPr lang="en-US" sz="1700" b="1" dirty="0">
                <a:solidFill>
                  <a:schemeClr val="bg1"/>
                </a:solidFill>
              </a:rPr>
              <a:t>Workshops</a:t>
            </a:r>
            <a:endParaRPr lang="en-US" sz="1700" dirty="0"/>
          </a:p>
        </p:txBody>
      </p:sp>
      <p:sp>
        <p:nvSpPr>
          <p:cNvPr id="11" name="Text 9"/>
          <p:cNvSpPr txBox="1"/>
          <p:nvPr/>
        </p:nvSpPr>
        <p:spPr>
          <a:xfrm>
            <a:off x="6217920" y="1627632"/>
            <a:ext cx="2286000" cy="457200"/>
          </a:xfrm>
          <a:prstGeom prst="rect">
            <a:avLst/>
          </a:prstGeom>
          <a:noFill/>
          <a:ln/>
        </p:spPr>
        <p:txBody>
          <a:bodyPr wrap="square" lIns="0" tIns="0" rIns="0" bIns="0" rtlCol="0" anchor="t"/>
          <a:lstStyle/>
          <a:p>
            <a:pPr indent="0" marL="0">
              <a:buNone/>
            </a:pPr>
            <a:r>
              <a:rPr lang="en-US" sz="1300" dirty="0">
                <a:solidFill>
                  <a:schemeClr val="accent6"/>
                </a:solidFill>
              </a:rPr>
              <a:t>per referred job</a:t>
            </a:r>
            <a:endParaRPr lang="en-US" sz="1300" dirty="0"/>
          </a:p>
        </p:txBody>
      </p:sp>
      <p:sp>
        <p:nvSpPr>
          <p:cNvPr id="12" name="Shape 10"/>
          <p:cNvSpPr/>
          <p:nvPr/>
        </p:nvSpPr>
        <p:spPr>
          <a:xfrm>
            <a:off x="457200" y="2514600"/>
            <a:ext cx="4023360" cy="2011680"/>
          </a:xfrm>
          <a:prstGeom prst="roundRect">
            <a:avLst>
              <a:gd name="adj" fmla="val 3636"/>
            </a:avLst>
          </a:prstGeom>
          <a:solidFill>
            <a:schemeClr val="bg2"/>
          </a:solidFill>
          <a:ln w="12700">
            <a:solidFill>
              <a:schemeClr val="bg2"/>
            </a:solidFill>
            <a:prstDash val="solid"/>
          </a:ln>
        </p:spPr>
      </p:sp>
      <p:sp>
        <p:nvSpPr>
          <p:cNvPr id="13" name="Text 11"/>
          <p:cNvSpPr txBox="1"/>
          <p:nvPr/>
        </p:nvSpPr>
        <p:spPr>
          <a:xfrm>
            <a:off x="640080" y="2606040"/>
            <a:ext cx="3657600" cy="320040"/>
          </a:xfrm>
          <a:prstGeom prst="rect">
            <a:avLst/>
          </a:prstGeom>
          <a:noFill/>
          <a:ln/>
        </p:spPr>
        <p:txBody>
          <a:bodyPr wrap="square" lIns="0" tIns="0" rIns="0" bIns="0" rtlCol="0" anchor="t"/>
          <a:lstStyle/>
          <a:p>
            <a:pPr indent="0" marL="0">
              <a:buNone/>
            </a:pPr>
            <a:r>
              <a:rPr lang="en-US" sz="1600" b="1" dirty="0">
                <a:solidFill>
                  <a:schemeClr val="accent1"/>
                </a:solidFill>
              </a:rPr>
              <a:t>Cost per inspection</a:t>
            </a:r>
            <a:endParaRPr lang="en-US" sz="1600" dirty="0"/>
          </a:p>
        </p:txBody>
      </p:sp>
      <p:sp>
        <p:nvSpPr>
          <p:cNvPr id="14" name="Text 12"/>
          <p:cNvSpPr txBox="1"/>
          <p:nvPr/>
        </p:nvSpPr>
        <p:spPr>
          <a:xfrm>
            <a:off x="640080" y="2971800"/>
            <a:ext cx="3657600" cy="1371600"/>
          </a:xfrm>
          <a:prstGeom prst="rect">
            <a:avLst/>
          </a:prstGeom>
          <a:noFill/>
          <a:ln/>
        </p:spPr>
        <p:txBody>
          <a:bodyPr wrap="square" lIns="0" tIns="0" rIns="0" bIns="0" rtlCol="0" anchor="t"/>
          <a:lstStyle/>
          <a:p>
            <a:pPr indent="0" marL="0">
              <a:buNone/>
            </a:pPr>
            <a:r>
              <a:rPr lang="en-US" sz="1300" dirty="0">
                <a:solidFill>
                  <a:schemeClr val="tx1"/>
                </a:solidFill>
              </a:rPr>
              <a:t>CPU time (0.36 s × photos, measured)</a:t>
            </a:r>
            <a:endParaRPr lang="en-US" sz="1300" dirty="0"/>
          </a:p>
          <a:p>
            <a:pPr indent="0" marL="0">
              <a:buNone/>
            </a:pPr>
            <a:r>
              <a:rPr lang="en-US" sz="1300" dirty="0">
                <a:solidFill>
                  <a:schemeClr val="tx1"/>
                </a:solidFill>
              </a:rPr>
              <a:t>+ one optional LLM call (text only)</a:t>
            </a:r>
            <a:endParaRPr lang="en-US" sz="1300" dirty="0"/>
          </a:p>
          <a:p>
            <a:pPr indent="0" marL="0">
              <a:buNone/>
            </a:pPr>
            <a:r>
              <a:rPr lang="en-US" sz="1300" dirty="0">
                <a:solidFill>
                  <a:schemeClr val="tx1"/>
                </a:solidFill>
              </a:rPr>
              <a:t>No GPU needed to run it.</a:t>
            </a:r>
            <a:endParaRPr lang="en-US" sz="1300" dirty="0"/>
          </a:p>
        </p:txBody>
      </p:sp>
      <p:sp>
        <p:nvSpPr>
          <p:cNvPr id="15" name="Shape 13"/>
          <p:cNvSpPr/>
          <p:nvPr/>
        </p:nvSpPr>
        <p:spPr>
          <a:xfrm>
            <a:off x="4663440" y="2514600"/>
            <a:ext cx="4023360" cy="2011680"/>
          </a:xfrm>
          <a:prstGeom prst="roundRect">
            <a:avLst>
              <a:gd name="adj" fmla="val 3636"/>
            </a:avLst>
          </a:prstGeom>
          <a:solidFill>
            <a:schemeClr val="bg2"/>
          </a:solidFill>
          <a:ln w="12700">
            <a:solidFill>
              <a:schemeClr val="bg2"/>
            </a:solidFill>
            <a:prstDash val="solid"/>
          </a:ln>
        </p:spPr>
      </p:sp>
      <p:sp>
        <p:nvSpPr>
          <p:cNvPr id="16" name="Text 14"/>
          <p:cNvSpPr txBox="1"/>
          <p:nvPr/>
        </p:nvSpPr>
        <p:spPr>
          <a:xfrm>
            <a:off x="4846320" y="2606040"/>
            <a:ext cx="3657600" cy="320040"/>
          </a:xfrm>
          <a:prstGeom prst="rect">
            <a:avLst/>
          </a:prstGeom>
          <a:noFill/>
          <a:ln/>
        </p:spPr>
        <p:txBody>
          <a:bodyPr wrap="square" lIns="0" tIns="0" rIns="0" bIns="0" rtlCol="0" anchor="t"/>
          <a:lstStyle/>
          <a:p>
            <a:pPr indent="0" marL="0">
              <a:buNone/>
            </a:pPr>
            <a:r>
              <a:rPr lang="en-US" sz="1600" b="1" dirty="0">
                <a:solidFill>
                  <a:schemeClr val="accent1"/>
                </a:solidFill>
              </a:rPr>
              <a:t>3-month pilot</a:t>
            </a:r>
            <a:endParaRPr lang="en-US" sz="1600" dirty="0"/>
          </a:p>
        </p:txBody>
      </p:sp>
      <p:sp>
        <p:nvSpPr>
          <p:cNvPr id="17" name="Text 15"/>
          <p:cNvSpPr txBox="1"/>
          <p:nvPr/>
        </p:nvSpPr>
        <p:spPr>
          <a:xfrm>
            <a:off x="4846320" y="2971800"/>
            <a:ext cx="3657600" cy="1371600"/>
          </a:xfrm>
          <a:prstGeom prst="rect">
            <a:avLst/>
          </a:prstGeom>
          <a:noFill/>
          <a:ln/>
        </p:spPr>
        <p:txBody>
          <a:bodyPr wrap="square" lIns="0" tIns="0" rIns="0" bIns="0" rtlCol="0" anchor="t"/>
          <a:lstStyle/>
          <a:p>
            <a:pPr indent="0" marL="0">
              <a:buNone/>
            </a:pPr>
            <a:r>
              <a:rPr lang="en-US" sz="1300" dirty="0">
                <a:solidFill>
                  <a:schemeClr val="tx1"/>
                </a:solidFill>
              </a:rPr>
              <a:t>One marketplace or one fleet in Tashkent</a:t>
            </a:r>
            <a:endParaRPr lang="en-US" sz="1300" dirty="0"/>
          </a:p>
          <a:p>
            <a:pPr indent="0" marL="0">
              <a:buNone/>
            </a:pPr>
            <a:r>
              <a:rPr lang="en-US" sz="1300" dirty="0">
                <a:solidFill>
                  <a:schemeClr val="tx1"/>
                </a:solidFill>
              </a:rPr>
              <a:t>Team of 3 + one CPU server</a:t>
            </a:r>
            <a:endParaRPr lang="en-US" sz="1300" dirty="0"/>
          </a:p>
          <a:p>
            <a:pPr indent="0" marL="0">
              <a:buNone/>
            </a:pPr>
            <a:r>
              <a:rPr lang="en-US" sz="1300" dirty="0">
                <a:solidFill>
                  <a:schemeClr val="tx1"/>
                </a:solidFill>
              </a:rPr>
              <a:t>Collect local photos → per-condition accuracy</a:t>
            </a:r>
            <a:endParaRPr lang="en-US" sz="1300" dirty="0"/>
          </a:p>
          <a:p>
            <a:pPr indent="0" marL="0">
              <a:buNone/>
            </a:pPr>
            <a:r>
              <a:rPr lang="en-US" sz="1300" dirty="0">
                <a:solidFill>
                  <a:schemeClr val="tx1"/>
                </a:solidFill>
              </a:rPr>
              <a:t>Measure: minutes saved per inspection</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5120640" y="0"/>
            <a:ext cx="4023360" cy="5143500"/>
          </a:xfrm>
          <a:prstGeom prst="rect">
            <a:avLst/>
          </a:prstGeom>
        </p:spPr>
      </p:pic>
      <p:sp>
        <p:nvSpPr>
          <p:cNvPr id="3" name="Text 0"/>
          <p:cNvSpPr/>
          <p:nvPr>
            <p:ph idx="100" type="title" hasCustomPrompt="1"/>
          </p:nvPr>
        </p:nvSpPr>
        <p:spPr>
          <a:xfrm>
            <a:off x="457200" y="1097280"/>
            <a:ext cx="4754880" cy="1463040"/>
          </a:xfrm>
          <a:prstGeom prst="rect">
            <a:avLst/>
          </a:prstGeom>
          <a:noFill/>
          <a:ln/>
        </p:spPr>
        <p:txBody>
          <a:bodyPr wrap="square" rtlCol="0" anchor="t"/>
          <a:lstStyle/>
          <a:p>
            <a:pPr algn="l" indent="0" marL="0">
              <a:buNone/>
            </a:pPr>
            <a:r>
              <a:rPr lang="en-US" sz="3800" b="1" dirty="0">
                <a:solidFill>
                  <a:schemeClr val="bg1"/>
                </a:solidFill>
              </a:rPr>
              <a:t>What comes next</a:t>
            </a:r>
            <a:endParaRPr lang="en-US" sz="3800" dirty="0"/>
          </a:p>
        </p:txBody>
      </p:sp>
      <p:sp>
        <p:nvSpPr>
          <p:cNvPr id="4" name="Text 1"/>
          <p:cNvSpPr txBox="1"/>
          <p:nvPr/>
        </p:nvSpPr>
        <p:spPr>
          <a:xfrm>
            <a:off x="457200" y="1874520"/>
            <a:ext cx="4572000" cy="457200"/>
          </a:xfrm>
          <a:prstGeom prst="rect">
            <a:avLst/>
          </a:prstGeom>
          <a:noFill/>
          <a:ln/>
        </p:spPr>
        <p:txBody>
          <a:bodyPr wrap="square" lIns="0" tIns="0" rIns="0" bIns="0" rtlCol="0" anchor="t"/>
          <a:lstStyle/>
          <a:p>
            <a:pPr indent="0" marL="0">
              <a:buNone/>
            </a:pPr>
            <a:r>
              <a:rPr lang="en-US" sz="1800" i="1" dirty="0">
                <a:solidFill>
                  <a:schemeClr val="bg1"/>
                </a:solidFill>
              </a:rPr>
              <a:t>Local cars, exact parts, real partners</a:t>
            </a:r>
            <a:endParaRPr lang="en-US" sz="1800" dirty="0"/>
          </a:p>
        </p:txBody>
      </p:sp>
      <p:sp>
        <p:nvSpPr>
          <p:cNvPr id="5" name="Shape 2"/>
          <p:cNvSpPr/>
          <p:nvPr/>
        </p:nvSpPr>
        <p:spPr>
          <a:xfrm>
            <a:off x="457200" y="2697480"/>
            <a:ext cx="292608" cy="292608"/>
          </a:xfrm>
          <a:prstGeom prst="ellipse">
            <a:avLst/>
          </a:prstGeom>
          <a:solidFill>
            <a:schemeClr val="accent1"/>
          </a:solidFill>
          <a:ln w="12700">
            <a:solidFill>
              <a:schemeClr val="accent1"/>
            </a:solidFill>
            <a:prstDash val="solid"/>
          </a:ln>
        </p:spPr>
      </p:sp>
      <p:sp>
        <p:nvSpPr>
          <p:cNvPr id="6" name="Text 3"/>
          <p:cNvSpPr txBox="1"/>
          <p:nvPr/>
        </p:nvSpPr>
        <p:spPr>
          <a:xfrm>
            <a:off x="457200" y="2697480"/>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7" name="Text 4"/>
          <p:cNvSpPr txBox="1"/>
          <p:nvPr/>
        </p:nvSpPr>
        <p:spPr>
          <a:xfrm>
            <a:off x="868680" y="2715768"/>
            <a:ext cx="4206240" cy="274320"/>
          </a:xfrm>
          <a:prstGeom prst="rect">
            <a:avLst/>
          </a:prstGeom>
          <a:noFill/>
          <a:ln/>
        </p:spPr>
        <p:txBody>
          <a:bodyPr wrap="square" lIns="0" tIns="0" rIns="0" bIns="0" rtlCol="0" anchor="t"/>
          <a:lstStyle/>
          <a:p>
            <a:pPr indent="0" marL="0">
              <a:buNone/>
            </a:pPr>
            <a:r>
              <a:rPr lang="en-US" sz="1400" dirty="0">
                <a:solidFill>
                  <a:schemeClr val="bg1"/>
                </a:solidFill>
              </a:rPr>
              <a:t>Test set of Uzbek cars at night and in rain</a:t>
            </a:r>
            <a:endParaRPr lang="en-US" sz="1400" dirty="0"/>
          </a:p>
        </p:txBody>
      </p:sp>
      <p:sp>
        <p:nvSpPr>
          <p:cNvPr id="8" name="Shape 5"/>
          <p:cNvSpPr/>
          <p:nvPr/>
        </p:nvSpPr>
        <p:spPr>
          <a:xfrm>
            <a:off x="457200" y="3154680"/>
            <a:ext cx="292608" cy="292608"/>
          </a:xfrm>
          <a:prstGeom prst="ellipse">
            <a:avLst/>
          </a:prstGeom>
          <a:solidFill>
            <a:schemeClr val="accent1"/>
          </a:solidFill>
          <a:ln w="12700">
            <a:solidFill>
              <a:schemeClr val="accent1"/>
            </a:solidFill>
            <a:prstDash val="solid"/>
          </a:ln>
        </p:spPr>
      </p:sp>
      <p:sp>
        <p:nvSpPr>
          <p:cNvPr id="9" name="Text 6"/>
          <p:cNvSpPr txBox="1"/>
          <p:nvPr/>
        </p:nvSpPr>
        <p:spPr>
          <a:xfrm>
            <a:off x="457200" y="3154680"/>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0" name="Text 7"/>
          <p:cNvSpPr txBox="1"/>
          <p:nvPr/>
        </p:nvSpPr>
        <p:spPr>
          <a:xfrm>
            <a:off x="868680" y="3172968"/>
            <a:ext cx="4206240" cy="274320"/>
          </a:xfrm>
          <a:prstGeom prst="rect">
            <a:avLst/>
          </a:prstGeom>
          <a:noFill/>
          <a:ln/>
        </p:spPr>
        <p:txBody>
          <a:bodyPr wrap="square" lIns="0" tIns="0" rIns="0" bIns="0" rtlCol="0" anchor="t"/>
          <a:lstStyle/>
          <a:p>
            <a:pPr indent="0" marL="0">
              <a:buNone/>
            </a:pPr>
            <a:r>
              <a:rPr lang="en-US" sz="1400" dirty="0">
                <a:solidFill>
                  <a:schemeClr val="bg1"/>
                </a:solidFill>
              </a:rPr>
              <a:t>Exact-part marking on the 3D car (part segmentation)</a:t>
            </a:r>
            <a:endParaRPr lang="en-US" sz="1400" dirty="0"/>
          </a:p>
        </p:txBody>
      </p:sp>
      <p:sp>
        <p:nvSpPr>
          <p:cNvPr id="11" name="Shape 8"/>
          <p:cNvSpPr/>
          <p:nvPr/>
        </p:nvSpPr>
        <p:spPr>
          <a:xfrm>
            <a:off x="457200" y="3611880"/>
            <a:ext cx="292608" cy="292608"/>
          </a:xfrm>
          <a:prstGeom prst="ellipse">
            <a:avLst/>
          </a:prstGeom>
          <a:solidFill>
            <a:schemeClr val="accent1"/>
          </a:solidFill>
          <a:ln w="12700">
            <a:solidFill>
              <a:schemeClr val="accent1"/>
            </a:solidFill>
            <a:prstDash val="solid"/>
          </a:ln>
        </p:spPr>
      </p:sp>
      <p:sp>
        <p:nvSpPr>
          <p:cNvPr id="12" name="Text 9"/>
          <p:cNvSpPr txBox="1"/>
          <p:nvPr/>
        </p:nvSpPr>
        <p:spPr>
          <a:xfrm>
            <a:off x="457200" y="3611880"/>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3" name="Text 10"/>
          <p:cNvSpPr txBox="1"/>
          <p:nvPr/>
        </p:nvSpPr>
        <p:spPr>
          <a:xfrm>
            <a:off x="868680" y="3630168"/>
            <a:ext cx="4206240" cy="274320"/>
          </a:xfrm>
          <a:prstGeom prst="rect">
            <a:avLst/>
          </a:prstGeom>
          <a:noFill/>
          <a:ln/>
        </p:spPr>
        <p:txBody>
          <a:bodyPr wrap="square" lIns="0" tIns="0" rIns="0" bIns="0" rtlCol="0" anchor="t"/>
          <a:lstStyle/>
          <a:p>
            <a:pPr indent="0" marL="0">
              <a:buNone/>
            </a:pPr>
            <a:r>
              <a:rPr lang="en-US" sz="1400" dirty="0">
                <a:solidFill>
                  <a:schemeClr val="bg1"/>
                </a:solidFill>
              </a:rPr>
              <a:t>Verified partner workshops with prices</a:t>
            </a:r>
            <a:endParaRPr lang="en-US" sz="1400" dirty="0"/>
          </a:p>
        </p:txBody>
      </p:sp>
      <p:sp>
        <p:nvSpPr>
          <p:cNvPr id="14" name="Shape 11"/>
          <p:cNvSpPr/>
          <p:nvPr/>
        </p:nvSpPr>
        <p:spPr>
          <a:xfrm>
            <a:off x="457200" y="4069080"/>
            <a:ext cx="292608" cy="292608"/>
          </a:xfrm>
          <a:prstGeom prst="ellipse">
            <a:avLst/>
          </a:prstGeom>
          <a:solidFill>
            <a:schemeClr val="accent1"/>
          </a:solidFill>
          <a:ln w="12700">
            <a:solidFill>
              <a:schemeClr val="accent1"/>
            </a:solidFill>
            <a:prstDash val="solid"/>
          </a:ln>
        </p:spPr>
      </p:sp>
      <p:sp>
        <p:nvSpPr>
          <p:cNvPr id="15" name="Text 12"/>
          <p:cNvSpPr txBox="1"/>
          <p:nvPr/>
        </p:nvSpPr>
        <p:spPr>
          <a:xfrm>
            <a:off x="457200" y="4069080"/>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6" name="Text 13"/>
          <p:cNvSpPr txBox="1"/>
          <p:nvPr/>
        </p:nvSpPr>
        <p:spPr>
          <a:xfrm>
            <a:off x="868680" y="4087368"/>
            <a:ext cx="4206240" cy="274320"/>
          </a:xfrm>
          <a:prstGeom prst="rect">
            <a:avLst/>
          </a:prstGeom>
          <a:noFill/>
          <a:ln/>
        </p:spPr>
        <p:txBody>
          <a:bodyPr wrap="square" lIns="0" tIns="0" rIns="0" bIns="0" rtlCol="0" anchor="t"/>
          <a:lstStyle/>
          <a:p>
            <a:pPr indent="0" marL="0">
              <a:buNone/>
            </a:pPr>
            <a:r>
              <a:rPr lang="en-US" sz="1400" dirty="0">
                <a:solidFill>
                  <a:schemeClr val="bg1"/>
                </a:solidFill>
              </a:rPr>
              <a:t>Uzbek and Russian interface</a:t>
            </a:r>
            <a:endParaRPr lang="en-US" sz="1400" dirty="0"/>
          </a:p>
        </p:txBody>
      </p:sp>
      <p:sp>
        <p:nvSpPr>
          <p:cNvPr id="17" name="Text 14"/>
          <p:cNvSpPr txBox="1"/>
          <p:nvPr/>
        </p:nvSpPr>
        <p:spPr>
          <a:xfrm>
            <a:off x="457200" y="4572000"/>
            <a:ext cx="4572000" cy="365760"/>
          </a:xfrm>
          <a:prstGeom prst="rect">
            <a:avLst/>
          </a:prstGeom>
          <a:noFill/>
          <a:ln/>
        </p:spPr>
        <p:txBody>
          <a:bodyPr wrap="square" lIns="0" tIns="0" rIns="0" bIns="0" rtlCol="0" anchor="t"/>
          <a:lstStyle/>
          <a:p>
            <a:pPr indent="0" marL="0">
              <a:buNone/>
            </a:pPr>
            <a:r>
              <a:rPr lang="en-US" sz="1000" dirty="0">
                <a:solidFill>
                  <a:schemeClr val="accent6"/>
                </a:solidFill>
              </a:rPr>
              <a:t>Thank you · abduloxunov-cardoctor.hf.space · github.com/Abduloxunov/mdb-vision-finals</a:t>
            </a:r>
            <a:endParaRPr lang="en-US" sz="1000" dirty="0"/>
          </a:p>
        </p:txBody>
      </p:sp>
    </p:spTree>
  </p:cSld>
  <p:clrMapOvr>
    <a:masterClrMapping/>
  </p:clrMapOvr>
</p:sld>
</file>

<file path=ppt/theme/theme1.xml><?xml version="1.0" encoding="utf-8"?>
<a:theme xmlns:a="http://schemas.openxmlformats.org/drawingml/2006/main" name="CarDoctor">
  <a:themeElements>
    <a:clrScheme name="CarDoctor">
      <a:dk1>
        <a:srgbClr val="13283A"/>
      </a:dk1>
      <a:lt1>
        <a:srgbClr val="FFFFFF"/>
      </a:lt1>
      <a:dk2>
        <a:srgbClr val="0E3B4A"/>
      </a:dk2>
      <a:lt2>
        <a:srgbClr val="EEF5F3"/>
      </a:lt2>
      <a:accent1>
        <a:srgbClr val="128271"/>
      </a:accent1>
      <a:accent2>
        <a:srgbClr val="E8433A"/>
      </a:accent2>
      <a:accent3>
        <a:srgbClr val="D9822B"/>
      </a:accent3>
      <a:accent4>
        <a:srgbClr val="2B6FD9"/>
      </a:accent4>
      <a:accent5>
        <a:srgbClr val="5C7A8A"/>
      </a:accent5>
      <a:accent6>
        <a:srgbClr val="9FD3C7"/>
      </a:accent6>
      <a:hlink>
        <a:srgbClr val="128271"/>
      </a:hlink>
      <a:folHlink>
        <a:srgbClr val="0E3B4A"/>
      </a:folHlink>
    </a:clrScheme>
    <a:fontScheme name="CarDoct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CarDoctor: MDB Vision defence deck</dc:title>
  <dc:subject>PptxGenJS Presentation</dc:subject>
  <dc:creator>PptxGenJS</dc:creator>
  <cp:lastModifiedBy>PptxGenJS</cp:lastModifiedBy>
  <cp:revision>1</cp:revision>
  <dcterms:created xsi:type="dcterms:W3CDTF">2026-10-11T07:50:03Z</dcterms:created>
  <dcterms:modified xsi:type="dcterms:W3CDTF">2026-10-11T07:50:03Z</dcterms:modified>
</cp:coreProperties>
</file>